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120640" cy="5120640"/>
          </a:xfrm>
          <a:prstGeom prst="ellipse">
            <a:avLst/>
          </a:prstGeom>
          <a:solidFill>
            <a:srgbClr val="7A33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389120"/>
            <a:ext cx="3840480" cy="3840480"/>
          </a:xfrm>
          <a:prstGeom prst="ellipse">
            <a:avLst/>
          </a:prstGeom>
          <a:solidFill>
            <a:srgbClr val="7A33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도현피아노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학원 안내 브로셔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“진도보다 기초, 아이마다 다르게.”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아이의 속도에 맞춰, 기초부터 제대로 쌓아 올리는 피아노 교육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6286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9611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2937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6263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9589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2914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9566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2891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56217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9543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2869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06194" y="5212080"/>
            <a:ext cx="465038" cy="1005840"/>
          </a:xfrm>
          <a:prstGeom prst="roundRect">
            <a:avLst>
              <a:gd name="adj" fmla="val 5899"/>
            </a:avLst>
          </a:prstGeom>
          <a:solidFill>
            <a:srgbClr val="FBF6EC"/>
          </a:solidFill>
          <a:ln w="9525">
            <a:solidFill>
              <a:srgbClr val="5E26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6121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9447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6098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99424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2750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49401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32727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9378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2704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6030" y="5212080"/>
            <a:ext cx="280329" cy="603504"/>
          </a:xfrm>
          <a:prstGeom prst="roundRect">
            <a:avLst>
              <a:gd name="adj" fmla="val 6524"/>
            </a:avLst>
          </a:prstGeom>
          <a:solidFill>
            <a:srgbClr val="3A2A30"/>
          </a:solidFill>
          <a:ln w="12700">
            <a:solidFill>
              <a:srgbClr val="3A2A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5532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9D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용인 모현읍  ·  이보나 원장  ·  ☎ 010-5158-3613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우리의 교육 철학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화려한 진도가 아니라, 오래 잘 치는 아이로 키웁니다.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101600" dist="38100" dir="5400000">
              <a:srgbClr val="C9B8A8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9404" y="2514600"/>
            <a:ext cx="914400" cy="914400"/>
          </a:xfrm>
          <a:prstGeom prst="ellipse">
            <a:avLst/>
          </a:prstGeom>
          <a:solidFill>
            <a:srgbClr val="C8A15A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9404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6616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기초를 먼저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605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악보 읽기·리듬·손 모양 같은 기초를 탄탄히. 기초가 비면 1~2년 뒤 반드시 벽에 부딪힙니다.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90288" y="214884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101600" dist="38100" dir="5400000">
              <a:srgbClr val="C9B8A8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6732" y="2514600"/>
            <a:ext cx="914400" cy="914400"/>
          </a:xfrm>
          <a:prstGeom prst="ellipse">
            <a:avLst/>
          </a:prstGeom>
          <a:solidFill>
            <a:srgbClr val="A8697A"/>
          </a:solidFill>
          <a:ln w="12700">
            <a:solidFill>
              <a:srgbClr val="A869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6732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356616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아이마다 다르게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41605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초1이라도 속도와 성향이 다릅니다. 이 아이의 ‘지금’을 보고 맞춥니다.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57616" y="214884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101600" dist="38100" dir="5400000">
              <a:srgbClr val="C9B8A8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24060" y="2514600"/>
            <a:ext cx="914400" cy="914400"/>
          </a:xfrm>
          <a:prstGeom prst="ellipse">
            <a:avLst/>
          </a:prstGeom>
          <a:solidFill>
            <a:srgbClr val="7A3350"/>
          </a:solidFill>
          <a:ln w="12700">
            <a:solidFill>
              <a:srgbClr val="7A33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240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356616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즐겁게, 오래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677656" y="4160520"/>
            <a:ext cx="2807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성취를 자주 경험하게 해 ‘피아노가 싫어지지 않게’ 속도를 조절합니다.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커리큘럼 — 실력이 자라는 사다리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아이의 실력에 따라 단계적으로 올라갑니다. 한 단계씩, 빈틈 없이.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기초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모양·악보 읽기 첫걸음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0672" y="2029968"/>
            <a:ext cx="2139696" cy="2724912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73552" y="22585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25786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중급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31729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체르니 100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363016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양손·리듬 감각 키우기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58384" y="1773936"/>
            <a:ext cx="2139696" cy="2980944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541264" y="200253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41264" y="2322576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고급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291693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체르니 30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3374136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표현력과 곡 완성도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26096" y="1517904"/>
            <a:ext cx="2139696" cy="3236976"/>
          </a:xfrm>
          <a:prstGeom prst="roundRect">
            <a:avLst>
              <a:gd name="adj" fmla="val 4274"/>
            </a:avLst>
          </a:prstGeom>
          <a:solidFill>
            <a:srgbClr val="7A3350"/>
          </a:solidFill>
          <a:ln w="12700">
            <a:solidFill>
              <a:srgbClr val="7A3350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08976" y="174650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08976" y="206654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최고급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808976" y="266090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체르니 40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08976" y="311810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D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 있는 연주 기술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93808" y="1261872"/>
            <a:ext cx="2139696" cy="3493008"/>
          </a:xfrm>
          <a:prstGeom prst="roundRect">
            <a:avLst>
              <a:gd name="adj" fmla="val 4274"/>
            </a:avLst>
          </a:prstGeom>
          <a:solidFill>
            <a:srgbClr val="5E2638"/>
          </a:solidFill>
          <a:ln w="12700">
            <a:solidFill>
              <a:srgbClr val="5E2638"/>
            </a:solidFill>
            <a:prstDash val="solid"/>
          </a:ln>
          <a:effectLst>
            <a:outerShdw sx="100000" sy="100000" kx="0" ky="0" algn="bl" rotWithShape="0" blurRad="88900" dist="38100" dir="5400000">
              <a:srgbClr val="C9B8A8">
                <a:alpha val="4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76688" y="14904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181051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입시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0076688" y="24048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작품곡·입시곡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076688" y="2862072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D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전공·입시 집중 트랙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칼림바 클래스 — 취미·성인 대상 부가 클래스도 운영합니다.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수업 안내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101600" dist="38100" dir="5400000">
              <a:srgbClr val="C9B8A8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920240"/>
            <a:ext cx="201168" cy="20116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 시간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762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 오후 1:00 ~ 6:00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201168" cy="20116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 정원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992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반별 최대 9명 · 개별 지도 중심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01168" cy="20116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수업 횟수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8221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2회 · 주 3회 · 주 5회 선택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4389120"/>
            <a:ext cx="201168" cy="20116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수강료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6451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15만원부터 (과정·횟수에 따라)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97280" y="5212080"/>
            <a:ext cx="201168" cy="20116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 예약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681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원활한 수업을 위해 저녁 6시 이후 예약제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4965192" cy="4480560"/>
          </a:xfrm>
          <a:prstGeom prst="roundRect">
            <a:avLst>
              <a:gd name="adj" fmla="val 2449"/>
            </a:avLst>
          </a:prstGeom>
          <a:solidFill>
            <a:srgbClr val="5E26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9A8575">
                <a:alpha val="4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72084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 때 이렇게 안내드려요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2514600"/>
            <a:ext cx="502920" cy="502920"/>
          </a:xfrm>
          <a:prstGeom prst="ellipse">
            <a:avLst/>
          </a:prstGeom>
          <a:solidFill>
            <a:srgbClr val="C8A15A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441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 성향만 들어도 편하게 말씀드립니다.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3566160"/>
            <a:ext cx="502920" cy="502920"/>
          </a:xfrm>
          <a:prstGeom prst="ellipse">
            <a:avLst/>
          </a:prstGeom>
          <a:solidFill>
            <a:srgbClr val="C8A15A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4930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‘몇 살이니까’가 아니라 지금 이 아이가 어디까지 준비됐는지부터 봅니다.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20840" y="4617720"/>
            <a:ext cx="502920" cy="502920"/>
          </a:xfrm>
          <a:prstGeom prst="ellipse">
            <a:avLst/>
          </a:prstGeom>
          <a:solidFill>
            <a:srgbClr val="C8A15A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45445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등록을 재촉하지 않습니다. 아이에게 맞는지 먼저 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부모님과 함께 봅니다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“오늘 잘했어요” 한마디로 끝나지 않습니다. 아이의 성장을 정기적으로 공유합니다.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430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87168"/>
            <a:ext cx="566928" cy="566928"/>
          </a:xfrm>
          <a:prstGeom prst="ellipse">
            <a:avLst/>
          </a:prstGeom>
          <a:solidFill>
            <a:srgbClr val="C8A15A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95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월간 진도 리포트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3774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무엇을 배우고, 무엇이 늘었고, 무엇이 약한지 매달 정리해 드립니다.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105430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785616"/>
            <a:ext cx="566928" cy="566928"/>
          </a:xfrm>
          <a:prstGeom prst="ellipse">
            <a:avLst/>
          </a:prstGeom>
          <a:solidFill>
            <a:srgbClr val="A8697A"/>
          </a:solidFill>
          <a:ln w="12700">
            <a:solidFill>
              <a:srgbClr val="A869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69417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개별 관찰 기록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67588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원장이 아이 한 명 한 명의 상태를 기록하고 수업에 반영합니다.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791456"/>
            <a:ext cx="105430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sx="100000" sy="100000" kx="0" ky="0" algn="bl" rotWithShape="0" blurRad="76200" dist="25400" dir="5400000">
              <a:srgbClr val="C9B8A8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5084064"/>
            <a:ext cx="566928" cy="566928"/>
          </a:xfrm>
          <a:prstGeom prst="ellipse">
            <a:avLst/>
          </a:prstGeom>
          <a:solidFill>
            <a:srgbClr val="7A3350"/>
          </a:solidFill>
          <a:ln w="12700">
            <a:solidFill>
              <a:srgbClr val="7A33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9926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편안한 소통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97433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궁금할 때 부담 없이 물어볼 수 있는 분위기. 첫 상담의 느낌이 1년을 좌우합니다.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4754880" cy="4754880"/>
          </a:xfrm>
          <a:prstGeom prst="ellipse">
            <a:avLst/>
          </a:prstGeom>
          <a:solidFill>
            <a:srgbClr val="7A33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 오세요, 편하게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8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 아이는 지금 시작해도 될까?” 아이 성향만 듣고도 편하게 말씀드릴 수 있어요.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6E3048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· 문자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010-5158-3613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6E3048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용인 처인구 모현읍 왕산로14 몬테로이 2단지 상가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6E3048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인스타그램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61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@dohyeon_piano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6E3048"/>
          </a:solidFill>
          <a:ln w="12700">
            <a:solidFill>
              <a:srgbClr val="C8A1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· 홈페이지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361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‘도현피아노’ 검색 · dohyeon-piano.netlify.app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상담은 저녁 6시 이후 예약제로 진행합니다. 미리 연락 주시면 시간 맞춰 안내드릴게요.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2026-09-11T05:31:20Z</dcterms:created>
  <dcterms:modified xsi:type="dcterms:W3CDTF">2026-09-11T05:31:20Z</dcterms:modified>
</cp:coreProperties>
</file>