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업무 포지셔닝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8"/>
            <c:spPr>
              <a:solidFill>
                <a:srgbClr val="2765EF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1.5</c:v>
                </c:pt>
                <c:pt idx="1">
                  <c:v>6.6</c:v>
                </c:pt>
                <c:pt idx="2">
                  <c:v>8.6</c:v>
                </c:pt>
                <c:pt idx="3">
                  <c:v>2.5</c:v>
                </c:pt>
                <c:pt idx="4">
                  <c:v>8.7</c:v>
                </c:pt>
                <c:pt idx="5">
                  <c:v>1.8</c:v>
                </c:pt>
                <c:pt idx="6">
                  <c:v>9.1</c:v>
                </c:pt>
                <c:pt idx="7">
                  <c:v>7.3</c:v>
                </c:pt>
                <c:pt idx="8">
                  <c:v>8.1</c:v>
                </c:pt>
                <c:pt idx="9">
                  <c:v>3.7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8.9</c:v>
                </c:pt>
                <c:pt idx="1">
                  <c:v>7.6</c:v>
                </c:pt>
                <c:pt idx="2">
                  <c:v>5.1</c:v>
                </c:pt>
                <c:pt idx="3">
                  <c:v>8.0</c:v>
                </c:pt>
                <c:pt idx="4">
                  <c:v>3.3</c:v>
                </c:pt>
                <c:pt idx="5">
                  <c:v>6.1</c:v>
                </c:pt>
                <c:pt idx="6">
                  <c:v>1.5</c:v>
                </c:pt>
                <c:pt idx="7">
                  <c:v>2.4</c:v>
                </c:pt>
                <c:pt idx="8">
                  <c:v>6.6</c:v>
                </c:pt>
                <c:pt idx="9">
                  <c:v>8.7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.0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  <c:max val="10.0"/>
          <c:min val="0.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28940872"/>
        <c:crosses val="autoZero"/>
        <c:crossBetween val="midCat"/>
        <c:majorUnit val="2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USD/월 계산 가정</c:v>
                </c:pt>
              </c:strCache>
            </c:strRef>
          </c:tx>
          <c:spPr>
            <a:solidFill>
              <a:srgbClr val="2765EF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ElevenLabs</c:v>
                </c:pt>
                <c:pt idx="1">
                  <c:v>Suno*</c:v>
                </c:pt>
                <c:pt idx="2">
                  <c:v>Midjourney</c:v>
                </c:pt>
                <c:pt idx="3">
                  <c:v>Canva*</c:v>
                </c:pt>
                <c:pt idx="4">
                  <c:v>Runway</c:v>
                </c:pt>
                <c:pt idx="5">
                  <c:v>Gemini</c:v>
                </c:pt>
                <c:pt idx="6">
                  <c:v>ChatGPT</c:v>
                </c:pt>
                <c:pt idx="7">
                  <c:v>Claude</c:v>
                </c:pt>
                <c:pt idx="8">
                  <c:v>Perplexity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</c:v>
                </c:pt>
                <c:pt idx="1">
                  <c:v>8</c:v>
                </c:pt>
                <c:pt idx="2">
                  <c:v>10</c:v>
                </c:pt>
                <c:pt idx="3">
                  <c:v>13</c:v>
                </c:pt>
                <c:pt idx="4">
                  <c:v>15</c:v>
                </c:pt>
                <c:pt idx="5">
                  <c:v>19.99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Noto Sans CJK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Noto Sans CJK K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Noto Sans CJK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유료 사용자 / 백만 명</c:v>
                </c:pt>
              </c:strCache>
            </c:strRef>
          </c:tx>
          <c:spPr>
            <a:solidFill>
              <a:srgbClr val="2765E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Higgsfield ≈</c:v>
                </c:pt>
                <c:pt idx="1">
                  <c:v>Midjourney 추정</c:v>
                </c:pt>
                <c:pt idx="2">
                  <c:v>Suno</c:v>
                </c:pt>
                <c:pt idx="3">
                  <c:v>Canva 전체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1.39</c:v>
                </c:pt>
                <c:pt idx="2">
                  <c:v>2</c:v>
                </c:pt>
                <c:pt idx="3">
                  <c:v>31.2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Noto Sans CJK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Noto Sans CJK K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Noto Sans CJK K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백만 USD / 연환산</c:v>
                </c:pt>
              </c:strCache>
            </c:strRef>
          </c:tx>
          <c:spPr>
            <a:solidFill>
              <a:srgbClr val="2765E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Suno</c:v>
                </c:pt>
                <c:pt idx="1">
                  <c:v>ElevenLabs</c:v>
                </c:pt>
                <c:pt idx="2">
                  <c:v>Higgsfield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300</c:v>
                </c:pt>
                <c:pt idx="1">
                  <c:v>500</c:v>
                </c:pt>
                <c:pt idx="2">
                  <c:v>1000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Noto Sans CJK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Noto Sans CJK K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Noto Sans CJK KR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시간 절감의 월 가치 / USD</c:v>
                </c:pt>
              </c:strCache>
            </c:strRef>
          </c:tx>
          <c:spPr>
            <a:solidFill>
              <a:srgbClr val="2765E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2시간</c:v>
                </c:pt>
                <c:pt idx="1">
                  <c:v>5시간</c:v>
                </c:pt>
                <c:pt idx="2">
                  <c:v>10시간</c:v>
                </c:pt>
                <c:pt idx="3">
                  <c:v>20시간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150</c:v>
                </c:pt>
                <c:pt idx="2">
                  <c:v>300</c:v>
                </c:pt>
                <c:pt idx="3">
                  <c:v>600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Noto Sans CJK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Noto Sans CJK K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Noto Sans CJK KR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2765E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STARTER $20</c:v>
                </c:pt>
                <c:pt idx="1">
                  <c:v>BALANCED $46</c:v>
                </c:pt>
                <c:pt idx="2">
                  <c:v>CREATOR $61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Canva</c:v>
                </c:pt>
              </c:strCache>
            </c:strRef>
          </c:tx>
          <c:spPr>
            <a:solidFill>
              <a:srgbClr val="16A6A1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STARTER $20</c:v>
                </c:pt>
                <c:pt idx="1">
                  <c:v>BALANCED $46</c:v>
                </c:pt>
                <c:pt idx="2">
                  <c:v>CREATOR $61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13</c:v>
                </c:pt>
                <c:pt idx="2">
                  <c:v>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Suno + ElevenLabs</c:v>
                </c:pt>
              </c:strCache>
            </c:strRef>
          </c:tx>
          <c:spPr>
            <a:solidFill>
              <a:srgbClr val="96B7F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STARTER $20</c:v>
                </c:pt>
                <c:pt idx="1">
                  <c:v>BALANCED $46</c:v>
                </c:pt>
                <c:pt idx="2">
                  <c:v>CREATOR $61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13</c:v>
                </c:pt>
                <c:pt idx="2">
                  <c:v>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Runway</c:v>
                </c:pt>
              </c:strCache>
            </c:strRef>
          </c:tx>
          <c:spPr>
            <a:solidFill>
              <a:srgbClr val="CB754B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STARTER $20</c:v>
                </c:pt>
                <c:pt idx="1">
                  <c:v>BALANCED $46</c:v>
                </c:pt>
                <c:pt idx="2">
                  <c:v>CREATOR $61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15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Noto Sans CJK K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000">
              <a:latin typeface="Noto Sans CJK KR"/>
            </a:defRPr>
          </a:pPr>
        </a:p>
      </c:txPr>
    </c:legend>
    <c:dispBlanksAs val="gap"/>
  </c:chart>
  <c:txPr>
    <a:bodyPr/>
    <a:lstStyle/>
    <a:p>
      <a:pPr>
        <a:defRPr sz="1100">
          <a:latin typeface="Noto Sans CJK KR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편당 총원가 / USD</c:v>
                </c:pt>
              </c:strCache>
            </c:strRef>
          </c:tx>
          <c:spPr>
            <a:solidFill>
              <a:srgbClr val="2765EF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기존 제작</c:v>
                </c:pt>
                <c:pt idx="1">
                  <c:v>AI 활용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17.6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Noto Sans CJK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Noto Sans CJK K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Noto Sans CJK K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사용자 제공 보고서(조사 기준 2026.10.09). 원문·최신 수치는 이 환경에서 독립 검증하지 못함.</a:t>
            </a:r>
          </a:p>
          <a:p/>
          <a:p>
            <a:r>
              <a:t>로고: LobeHub Icons 1.97.1 / Canva: Simple Icons 13.21.0. 제3자 배포 자산이며 공식 브랜드 원본 검증을 대체하지 않음. Higgsfield는 편집 가능한 이름 표시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사용자 제공 보고서(조사 기준 2026.10.09). 원문·최신 수치는 이 환경에서 독립 검증하지 못함.</a:t>
            </a:r>
          </a:p>
          <a:p/>
          <a:p>
            <a:r>
              <a:t>로고: LobeHub Icons 1.97.1 / Canva: Simple Icons 13.21.0. 제3자 배포 자산이며 공식 브랜드 원본 검증을 대체하지 않음. Higgsfield는 편집 가능한 이름 표시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사용자 제공 보고서(조사 기준 2026.10.09). 원문·최신 수치는 이 환경에서 독립 검증하지 못함.</a:t>
            </a:r>
          </a:p>
          <a:p>
            <a:r>
              <a:t>브랜드 아이콘: LobeHub / Simple Icons(제3자 배포). Higgsfield는 이름 표시. 공식 로고 전체 확보는 미완료.</a:t>
            </a:r>
          </a:p>
          <a:p>
            <a:r>
              <a:t>로고: LobeHub Icons 1.97.1 / Canva: Simple Icons 13.21.0. 제3자 배포 자산이며 공식 브랜드 원본 검증을 대체하지 않음. Higgsfield는 편집 가능한 이름 표시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사용자 제공 보고서(조사 기준 2026.10.09). 원문·최신 수치는 이 환경에서 독립 검증하지 못함.</a:t>
            </a:r>
          </a:p>
          <a:p/>
          <a:p>
            <a:r>
              <a:t>로고: LobeHub Icons 1.97.1 / Canva: Simple Icons 13.21.0. 제3자 배포 자산이며 공식 브랜드 원본 검증을 대체하지 않음. Higgsfield는 편집 가능한 이름 표시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사용자 제공 보고서(조사 기준 2026.10.09). 원문·최신 수치는 이 환경에서 독립 검증하지 못함.</a:t>
            </a:r>
          </a:p>
          <a:p>
            <a:r>
              <a:t>USD/월 모델 · Canva 13, Suno 8은 $46·$61 예산을 재현한 가정. 세금·추가 크레딧 제외. 최신 요금 재확인 필요.</a:t>
            </a:r>
          </a:p>
          <a:p>
            <a:r>
              <a:t>로고: LobeHub Icons 1.97.1 / Canva: Simple Icons 13.21.0. 제3자 배포 자산이며 공식 브랜드 원본 검증을 대체하지 않음. Higgsfield는 편집 가능한 이름 표시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사용자 제공 보고서(조사 기준 2026.10.09). 원문·최신 수치는 이 환경에서 독립 검증하지 못함.</a:t>
            </a:r>
          </a:p>
          <a:p>
            <a:r>
              <a:t>출처: 사용자 제공 보고서(조사 기준 2026.10.09). 원문·최신 수치는 이 환경에서 독립 검증하지 못함.</a:t>
            </a:r>
          </a:p>
          <a:p>
            <a:r>
              <a:t>로고: LobeHub Icons 1.97.1 / Canva: Simple Icons 13.21.0. 제3자 배포 자산이며 공식 브랜드 원본 검증을 대체하지 않음. Higgsfield는 편집 가능한 이름 표시 사용.</a:t>
            </a:r>
          </a:p>
          <a:p>
            <a:r>
              <a:t>Canva 31.2m: 사용자 보고서상 Inc.com, 2025년 말. Suno 2m: TechCrunch CEO 발언 2026-02. Midjourney 1.39m: Axis Intelligence 추정 2026-07. Higgsfield near 1m: 회사 발표 2026-09-29. 개별 기사 URL 미제공. 그래프의 Higgsfield 1.0은 근사 표시.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사용자 제공 보고서(조사 기준 2026.10.09). 원문·최신 수치는 이 환경에서 독립 검증하지 못함.</a:t>
            </a:r>
          </a:p>
          <a:p>
            <a:r>
              <a:t>출처: 사용자 제공 보고서(조사 기준 2026.10.09). 원문·최신 수치는 이 환경에서 독립 검증하지 못함.</a:t>
            </a:r>
          </a:p>
          <a:p>
            <a:r>
              <a:t>로고: LobeHub Icons 1.97.1 / Canva: Simple Icons 13.21.0. 제3자 배포 자산이며 공식 브랜드 원본 검증을 대체하지 않음. Higgsfield는 편집 가능한 이름 표시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사용자 제공 보고서(조사 기준 2026.10.09). 원문·최신 수치는 이 환경에서 독립 검증하지 못함.</a:t>
            </a:r>
          </a:p>
          <a:p>
            <a:r>
              <a:t>출처: 사용자 제공 보고서(조사 기준 2026.10.09). 원문·최신 수치는 이 환경에서 독립 검증하지 못함.</a:t>
            </a:r>
          </a:p>
          <a:p>
            <a:r>
              <a:t>로고: LobeHub Icons 1.97.1 / Canva: Simple Icons 13.21.0. 제3자 배포 자산이며 공식 브랜드 원본 검증을 대체하지 않음. Higgsfield는 편집 가능한 이름 표시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사용자 제공 보고서(조사 기준 2026.10.09). 원문·최신 수치는 이 환경에서 독립 검증하지 못함.</a:t>
            </a:r>
          </a:p>
          <a:p/>
          <a:p>
            <a:r>
              <a:t>로고: LobeHub Icons 1.97.1 / Canva: Simple Icons 13.21.0. 제3자 배포 자산이며 공식 브랜드 원본 검증을 대체하지 않음. Higgsfield는 편집 가능한 이름 표시 사용.</a:t>
            </a:r>
          </a:p>
          <a:p>
            <a:r>
              <a:t>¹ 개발 도구 화면이며 Claude/Gemini 일반 소비자 앱 화면이 아님. https://raw.githubusercontent.com/anthropics/claude-code/main/demo.gif (프레임 추출); https://raw.githubusercontent.com/google-gemini/gemini-cli/main/docs/assets/gemini-screenshot.png . 공식 저장소에서 내려받음.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사용자 제공 보고서(조사 기준 2026.10.09). 원문·최신 수치는 이 환경에서 독립 검증하지 못함.</a:t>
            </a:r>
          </a:p>
          <a:p/>
          <a:p>
            <a:r>
              <a:t>로고: LobeHub Icons 1.97.1 / Canva: Simple Icons 13.21.0. 제3자 배포 자산이며 공식 브랜드 원본 검증을 대체하지 않음. Higgsfield는 편집 가능한 이름 표시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사용자 제공 보고서(조사 기준 2026.10.09). 원문·최신 수치는 이 환경에서 독립 검증하지 못함.</a:t>
            </a:r>
          </a:p>
          <a:p/>
          <a:p>
            <a:r>
              <a:t>로고: LobeHub Icons 1.97.1 / Canva: Simple Icons 13.21.0. 제3자 배포 자산이며 공식 브랜드 원본 검증을 대체하지 않음. Higgsfield는 편집 가능한 이름 표시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사용자 제공 보고서(조사 기준 2026.10.09). 원문·최신 수치는 이 환경에서 독립 검증하지 못함.</a:t>
            </a:r>
          </a:p>
          <a:p/>
          <a:p>
            <a:r>
              <a:t>로고: LobeHub Icons 1.97.1 / Canva: Simple Icons 13.21.0. 제3자 배포 자산이며 공식 브랜드 원본 검증을 대체하지 않음. Higgsfield는 편집 가능한 이름 표시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사용자 제공 보고서(조사 기준 2026.10.09). 원문·최신 수치는 이 환경에서 독립 검증하지 못함.</a:t>
            </a:r>
          </a:p>
          <a:p>
            <a:r>
              <a:t>계산 가정: ChatGPT 20 + Canva 13 + Suno 8 + ElevenLabs 5 + Runway 15 (USD/월). 실결제 전 가격 확인.</a:t>
            </a:r>
          </a:p>
          <a:p>
            <a:r>
              <a:t>로고: LobeHub Icons 1.97.1 / Canva: Simple Icons 13.21.0. 제3자 배포 자산이며 공식 브랜드 원본 검증을 대체하지 않음. Higgsfield는 편집 가능한 이름 표시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사용자 제공 보고서(조사 기준 2026.10.09). 원문·최신 수치는 이 환경에서 독립 검증하지 못함.</a:t>
            </a:r>
          </a:p>
          <a:p/>
          <a:p>
            <a:r>
              <a:t>로고: LobeHub Icons 1.97.1 / Canva: Simple Icons 13.21.0. 제3자 배포 자산이며 공식 브랜드 원본 검증을 대체하지 않음. Higgsfield는 편집 가능한 이름 표시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사용자 제공 보고서(조사 기준 2026.10.09). 원문·최신 수치는 이 환경에서 독립 검증하지 못함.</a:t>
            </a:r>
          </a:p>
          <a:p/>
          <a:p>
            <a:r>
              <a:t>로고: LobeHub Icons 1.97.1 / Canva: Simple Icons 13.21.0. 제3자 배포 자산이며 공식 브랜드 원본 검증을 대체하지 않음. Higgsfield는 편집 가능한 이름 표시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사용자 제공 보고서(조사 기준 2026.10.09). 원문·최신 수치는 이 환경에서 독립 검증하지 못함.</a:t>
            </a:r>
          </a:p>
          <a:p/>
          <a:p>
            <a:r>
              <a:t>로고: LobeHub Icons 1.97.1 / Canva: Simple Icons 13.21.0. 제3자 배포 자산이며 공식 브랜드 원본 검증을 대체하지 않음. Higgsfield는 편집 가능한 이름 표시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사용자 제공 보고서(조사 기준 2026.10.09). 원문·최신 수치는 이 환경에서 독립 검증하지 못함.</a:t>
            </a:r>
          </a:p>
          <a:p/>
          <a:p>
            <a:r>
              <a:t>로고: LobeHub Icons 1.97.1 / Canva: Simple Icons 13.21.0. 제3자 배포 자산이며 공식 브랜드 원본 검증을 대체하지 않음. Higgsfield는 편집 가능한 이름 표시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사용자 제공 보고서(조사 기준 2026.10.09). 원문·최신 수치는 이 환경에서 독립 검증하지 못함.</a:t>
            </a:r>
          </a:p>
          <a:p/>
          <a:p>
            <a:r>
              <a:t>로고: LobeHub Icons 1.97.1 / Canva: Simple Icons 13.21.0. 제3자 배포 자산이며 공식 브랜드 원본 검증을 대체하지 않음. Higgsfield는 편집 가능한 이름 표시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00584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92B5FF"/>
                </a:solidFill>
                <a:latin typeface="Noto Sans CJK KR"/>
              </a:defRPr>
            </a:pPr>
            <a:r>
              <a:t>2026 SOLO BUSINESS  / 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62179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Noto Sans CJK K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18520" cy="10972"/>
          </a:xfrm>
          <a:prstGeom prst="rect">
            <a:avLst/>
          </a:prstGeom>
          <a:solidFill>
            <a:srgbClr val="34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0698480" cy="2011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840" b="0">
                <a:solidFill>
                  <a:srgbClr val="A8B9D2"/>
                </a:solidFill>
                <a:latin typeface="Noto Sans CJK KR"/>
              </a:defRPr>
            </a:pPr>
            <a:r>
              <a:t>AI TOP 10  •  의사결정용 리서치 브리프  •  2026.10.09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45720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9D2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7315200" cy="17373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6600" b="1">
                <a:solidFill>
                  <a:srgbClr val="FFFFFF"/>
                </a:solidFill>
                <a:latin typeface="Noto Sans CJK KR"/>
              </a:defRPr>
            </a:pPr>
            <a:r>
              <a:t>AI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61488"/>
            <a:ext cx="7315200" cy="10972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Noto Sans CJK KR"/>
              </a:defRPr>
            </a:pPr>
            <a:r>
              <a:t>2026년 1인 사업가를 위한</a:t>
            </a:r>
          </a:p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Noto Sans CJK KR"/>
              </a:defRPr>
            </a:pPr>
            <a:r>
              <a:t>구독과 수익화 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379976"/>
            <a:ext cx="7223760" cy="56692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A9C5FF"/>
                </a:solidFill>
                <a:latin typeface="Noto Sans CJK KR"/>
              </a:defRPr>
            </a:pPr>
            <a:r>
              <a:t>적게 구독하고, 더 많이 생산하라.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234440"/>
            <a:ext cx="2852928" cy="4425696"/>
          </a:xfrm>
          <a:prstGeom prst="roundRect">
            <a:avLst>
              <a:gd name="adj" fmla="val 13000"/>
            </a:avLst>
          </a:prstGeom>
          <a:solidFill>
            <a:srgbClr val="1B3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24544" y="1536192"/>
            <a:ext cx="228600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4200" b="1">
                <a:solidFill>
                  <a:srgbClr val="A9C5FF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2832" y="2304288"/>
            <a:ext cx="22860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FFFFFF"/>
                </a:solidFill>
                <a:latin typeface="Noto Sans CJK KR"/>
              </a:defRPr>
            </a:pPr>
            <a:r>
              <a:t>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544" y="2889504"/>
            <a:ext cx="228600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4200" b="1">
                <a:solidFill>
                  <a:srgbClr val="A9C5FF"/>
                </a:solidFill>
                <a:latin typeface="Noto Sans CJK KR"/>
              </a:defRPr>
            </a:pPr>
            <a:r>
              <a:t>3–5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3657600"/>
            <a:ext cx="22860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FFFFFF"/>
                </a:solidFill>
                <a:latin typeface="Noto Sans CJK KR"/>
              </a:defRPr>
            </a:pPr>
            <a:r>
              <a:t>ACTIVE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4544" y="4242816"/>
            <a:ext cx="228600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4200" b="1">
                <a:solidFill>
                  <a:srgbClr val="A9C5FF"/>
                </a:solidFill>
                <a:latin typeface="Noto Sans CJK KR"/>
              </a:defRPr>
            </a:pPr>
            <a: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832" y="5010912"/>
            <a:ext cx="22860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FFFFFF"/>
                </a:solidFill>
                <a:latin typeface="Noto Sans CJK KR"/>
              </a:defRPr>
            </a:pPr>
            <a:r>
              <a:t>DAY EXPERIMENT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5614416"/>
            <a:ext cx="7315200" cy="32918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BE3"/>
                </a:solidFill>
                <a:latin typeface="Noto Sans CJK KR"/>
              </a:defRPr>
            </a:pPr>
            <a:r>
              <a:t>전략 · 가격 모델 · 사용자 규모 · 실행 로드맵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00584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65EF"/>
                </a:solidFill>
                <a:latin typeface="Noto Sans CJK KR"/>
              </a:defRPr>
            </a:pPr>
            <a:r>
              <a:t>2026 SOLO BUSINESS  /  01 / EXECUTIVE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62179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1233F"/>
                </a:solidFill>
                <a:latin typeface="Noto Sans CJK KR"/>
              </a:defRPr>
            </a:pPr>
            <a:r>
              <a:t>10개를 알되, 유료 구독은 3–5개부터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5029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68D"/>
                </a:solidFill>
                <a:latin typeface="Noto Sans CJK KR"/>
              </a:defRPr>
            </a:pPr>
            <a:r>
              <a:t>범용 AI 1개 + 디자인 1개 + 수익화 전문 AI 1–2개를 기본 구조로 삼는다.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28232"/>
            <a:ext cx="11018520" cy="10972"/>
          </a:xfrm>
          <a:prstGeom prst="rect">
            <a:avLst/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698480" cy="2011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840" b="0">
                <a:solidFill>
                  <a:srgbClr val="66768D"/>
                </a:solidFill>
                <a:latin typeface="Noto Sans CJK KR"/>
              </a:defRPr>
            </a:pPr>
            <a:r>
              <a:t>AI TOP 10  •  의사결정용 리서치 브리프  •  2026.10.09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68D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58568"/>
            <a:ext cx="3529584" cy="3355848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441448"/>
            <a:ext cx="3127248" cy="38404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66768D"/>
                </a:solidFill>
                <a:latin typeface="Noto Sans CJK KR"/>
              </a:defRPr>
            </a:pPr>
            <a:r>
              <a:t>01  생각과 기획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980944"/>
            <a:ext cx="3127248" cy="6949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2765EF"/>
                </a:solidFill>
                <a:latin typeface="Noto Sans CJK KR"/>
              </a:defRPr>
            </a:pPr>
            <a:r>
              <a:t>범용 AI 1개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831336"/>
            <a:ext cx="3127248" cy="170992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72B49"/>
                </a:solidFill>
                <a:latin typeface="Noto Sans CJK KR"/>
              </a:defRPr>
            </a:pPr>
            <a:r>
              <a:t>ChatGPT · Claude · Gemini</a:t>
            </a:r>
          </a:p>
          <a:p>
            <a:pPr>
              <a:spcAft>
                <a:spcPts val="700"/>
              </a:spcAft>
              <a:defRPr sz="1500" b="0">
                <a:solidFill>
                  <a:srgbClr val="172B49"/>
                </a:solidFill>
                <a:latin typeface="Noto Sans CJK KR"/>
              </a:defRPr>
            </a:pPr>
            <a:r>
              <a:t>반복 업무를 기준으로 한 개 선택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2258568"/>
            <a:ext cx="3529584" cy="3355848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441448"/>
            <a:ext cx="3127248" cy="38404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66768D"/>
                </a:solidFill>
                <a:latin typeface="Noto Sans CJK KR"/>
              </a:defRPr>
            </a:pPr>
            <a:r>
              <a:t>02  결과물과 브랜드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980944"/>
            <a:ext cx="3127248" cy="6949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2765EF"/>
                </a:solidFill>
                <a:latin typeface="Noto Sans CJK KR"/>
              </a:defRPr>
            </a:pPr>
            <a:r>
              <a:t>디자인 1개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831336"/>
            <a:ext cx="3127248" cy="170992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72B49"/>
                </a:solidFill>
                <a:latin typeface="Noto Sans CJK KR"/>
              </a:defRPr>
            </a:pPr>
            <a:r>
              <a:t>Canva</a:t>
            </a:r>
          </a:p>
          <a:p>
            <a:pPr>
              <a:spcAft>
                <a:spcPts val="700"/>
              </a:spcAft>
              <a:defRPr sz="1500" b="0">
                <a:solidFill>
                  <a:srgbClr val="172B49"/>
                </a:solidFill>
                <a:latin typeface="Noto Sans CJK KR"/>
              </a:defRPr>
            </a:pPr>
            <a:r>
              <a:t>템플릿·브랜드·배포 형식 통일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2258568"/>
            <a:ext cx="3529584" cy="3355848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2441448"/>
            <a:ext cx="3127248" cy="38404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66768D"/>
                </a:solidFill>
                <a:latin typeface="Noto Sans CJK KR"/>
              </a:defRPr>
            </a:pPr>
            <a:r>
              <a:t>03  판매할 전문성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980944"/>
            <a:ext cx="3127248" cy="6949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16A6A1"/>
                </a:solidFill>
                <a:latin typeface="Noto Sans CJK KR"/>
              </a:defRPr>
            </a:pPr>
            <a:r>
              <a:t>전문 AI 1–2개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3831336"/>
            <a:ext cx="3127248" cy="170992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72B49"/>
                </a:solidFill>
                <a:latin typeface="Noto Sans CJK KR"/>
              </a:defRPr>
            </a:pPr>
            <a:r>
              <a:t>영상 · 이미지 · 음악 · 음성</a:t>
            </a:r>
          </a:p>
          <a:p>
            <a:pPr>
              <a:spcAft>
                <a:spcPts val="700"/>
              </a:spcAft>
              <a:defRPr sz="1500" b="0">
                <a:solidFill>
                  <a:srgbClr val="172B49"/>
                </a:solidFill>
                <a:latin typeface="Noto Sans CJK KR"/>
              </a:defRPr>
            </a:pPr>
            <a:r>
              <a:t>실제 납품·매출과 연결되는 도구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70448"/>
            <a:ext cx="10789920" cy="34747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765EF"/>
                </a:solidFill>
                <a:latin typeface="Noto Sans CJK KR"/>
              </a:defRPr>
            </a:pPr>
            <a:r>
              <a:t>선택 기준: 인기보다 완성 품질, 월간 사용량, 절약 시간, 매출 기여도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00584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65EF"/>
                </a:solidFill>
                <a:latin typeface="Noto Sans CJK KR"/>
              </a:defRPr>
            </a:pPr>
            <a:r>
              <a:t>2026 SOLO BUSINESS  /  02 / SHORTLIST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62179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1233F"/>
                </a:solidFill>
                <a:latin typeface="Noto Sans CJK KR"/>
              </a:defRPr>
            </a:pPr>
            <a:r>
              <a:t>추천 AI TOP 10 — 역할이 겹치면 하나만 남긴다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5029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68D"/>
                </a:solidFill>
                <a:latin typeface="Noto Sans CJK KR"/>
              </a:defRPr>
            </a:pPr>
            <a:r>
              <a:t>순위는 제공 보고서의 추천 순서이며 객관적 성능 벤치마크가 아니다.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28232"/>
            <a:ext cx="11018520" cy="10972"/>
          </a:xfrm>
          <a:prstGeom prst="rect">
            <a:avLst/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698480" cy="2011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840" b="0">
                <a:solidFill>
                  <a:srgbClr val="66768D"/>
                </a:solidFill>
                <a:latin typeface="Noto Sans CJK KR"/>
              </a:defRPr>
            </a:pPr>
            <a:r>
              <a:t>브랜드 아이콘: LobeHub / Simple Icons(제3자 배포). Higgsfield는 이름 표시. 공식 로고 전체 확보는 미완료.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68D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2103120"/>
            <a:ext cx="5440680" cy="667512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67712"/>
            <a:ext cx="411480" cy="29260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765EF"/>
                </a:solidFill>
                <a:latin typeface="Noto Sans CJK KR"/>
              </a:defRPr>
            </a:pPr>
            <a:r>
              <a:t>01</a:t>
            </a:r>
          </a:p>
        </p:txBody>
      </p:sp>
      <p:pic>
        <p:nvPicPr>
          <p:cNvPr id="11" name="Picture 10" descr="open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2258568"/>
            <a:ext cx="356616" cy="3566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92224" y="2203703"/>
            <a:ext cx="1874519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3F"/>
                </a:solidFill>
                <a:latin typeface="Noto Sans CJK KR"/>
              </a:defRPr>
            </a:pPr>
            <a:r>
              <a:t>ChatGPT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258568"/>
            <a:ext cx="2267712" cy="32918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기획·분석·업무 자동화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2889503"/>
            <a:ext cx="5440680" cy="667512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054096"/>
            <a:ext cx="411480" cy="29260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765EF"/>
                </a:solidFill>
                <a:latin typeface="Noto Sans CJK KR"/>
              </a:defRPr>
            </a:pPr>
            <a:r>
              <a:t>02</a:t>
            </a:r>
          </a:p>
        </p:txBody>
      </p:sp>
      <p:pic>
        <p:nvPicPr>
          <p:cNvPr id="16" name="Picture 15" descr="can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3044951"/>
            <a:ext cx="356616" cy="3566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92224" y="2990087"/>
            <a:ext cx="1874519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3F"/>
                </a:solidFill>
                <a:latin typeface="Noto Sans CJK KR"/>
              </a:defRPr>
            </a:pPr>
            <a:r>
              <a:t>Canva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3044951"/>
            <a:ext cx="2267712" cy="32918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디자인·브랜드·프레젠테이션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3675887"/>
            <a:ext cx="5440680" cy="667512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840479"/>
            <a:ext cx="411480" cy="29260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765EF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98448" y="3831335"/>
            <a:ext cx="356616" cy="356616"/>
          </a:xfrm>
          <a:prstGeom prst="roundRect">
            <a:avLst>
              <a:gd name="adj" fmla="val 13000"/>
            </a:avLst>
          </a:prstGeom>
          <a:solidFill>
            <a:srgbClr val="11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3849623"/>
            <a:ext cx="356616" cy="35661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ctr">
              <a:spcAft>
                <a:spcPts val="700"/>
              </a:spcAft>
              <a:defRPr sz="1521" b="1">
                <a:solidFill>
                  <a:srgbClr val="FFFFFF"/>
                </a:solidFill>
                <a:latin typeface="Noto Sans CJK KR"/>
              </a:defRPr>
            </a:pPr>
            <a:r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2224" y="3776472"/>
            <a:ext cx="1874519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3F"/>
                </a:solidFill>
                <a:latin typeface="Noto Sans CJK KR"/>
              </a:defRPr>
            </a:pPr>
            <a:r>
              <a:t>Higgsfield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1024" y="3831335"/>
            <a:ext cx="2267712" cy="32918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광고·소셜 영상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4462272"/>
            <a:ext cx="5440680" cy="667512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626864"/>
            <a:ext cx="411480" cy="29260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765EF"/>
                </a:solidFill>
                <a:latin typeface="Noto Sans CJK KR"/>
              </a:defRPr>
            </a:pPr>
            <a:r>
              <a:t>04</a:t>
            </a:r>
          </a:p>
        </p:txBody>
      </p:sp>
      <p:pic>
        <p:nvPicPr>
          <p:cNvPr id="27" name="Picture 26" descr="claude-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4617720"/>
            <a:ext cx="356616" cy="35661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792224" y="4562856"/>
            <a:ext cx="1874519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3F"/>
                </a:solidFill>
                <a:latin typeface="Noto Sans CJK KR"/>
              </a:defRPr>
            </a:pPr>
            <a:r>
              <a:t>Claude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21024" y="4617720"/>
            <a:ext cx="2267712" cy="32918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문서·코딩·장문 작성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" y="5248656"/>
            <a:ext cx="5440680" cy="667512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413248"/>
            <a:ext cx="411480" cy="29260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765EF"/>
                </a:solidFill>
                <a:latin typeface="Noto Sans CJK KR"/>
              </a:defRPr>
            </a:pPr>
            <a:r>
              <a:t>05</a:t>
            </a:r>
          </a:p>
        </p:txBody>
      </p:sp>
      <p:pic>
        <p:nvPicPr>
          <p:cNvPr id="32" name="Picture 31" descr="midjourn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8448" y="5404104"/>
            <a:ext cx="356616" cy="35661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792224" y="5349240"/>
            <a:ext cx="1874519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3F"/>
                </a:solidFill>
                <a:latin typeface="Noto Sans CJK KR"/>
              </a:defRPr>
            </a:pPr>
            <a:r>
              <a:t>Midjourney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21024" y="5404104"/>
            <a:ext cx="2267712" cy="32918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브랜드 이미지·비주얼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5352" y="2103120"/>
            <a:ext cx="5440680" cy="667512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2267712"/>
            <a:ext cx="411480" cy="29260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765EF"/>
                </a:solidFill>
                <a:latin typeface="Noto Sans CJK KR"/>
              </a:defRPr>
            </a:pPr>
            <a:r>
              <a:t>06</a:t>
            </a:r>
          </a:p>
        </p:txBody>
      </p:sp>
      <p:pic>
        <p:nvPicPr>
          <p:cNvPr id="37" name="Picture 36" descr="perplexity-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1152" y="2258568"/>
            <a:ext cx="356616" cy="35661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24928" y="2203703"/>
            <a:ext cx="1874519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3F"/>
                </a:solidFill>
                <a:latin typeface="Noto Sans CJK KR"/>
              </a:defRPr>
            </a:pPr>
            <a:r>
              <a:t>Perplexity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2258568"/>
            <a:ext cx="2267712" cy="32918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검색·출처 기반 리서치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5352" y="2889503"/>
            <a:ext cx="5440680" cy="667512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3054096"/>
            <a:ext cx="411480" cy="29260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765EF"/>
                </a:solidFill>
                <a:latin typeface="Noto Sans CJK KR"/>
              </a:defRPr>
            </a:pPr>
            <a:r>
              <a:t>07</a:t>
            </a:r>
          </a:p>
        </p:txBody>
      </p:sp>
      <p:pic>
        <p:nvPicPr>
          <p:cNvPr id="42" name="Picture 41" descr="sun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1152" y="3044951"/>
            <a:ext cx="356616" cy="35661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424928" y="2990087"/>
            <a:ext cx="1874519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3F"/>
                </a:solidFill>
                <a:latin typeface="Noto Sans CJK KR"/>
              </a:defRPr>
            </a:pPr>
            <a:r>
              <a:t>Suno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3728" y="3044951"/>
            <a:ext cx="2267712" cy="32918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음악·배경음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45352" y="3675887"/>
            <a:ext cx="5440680" cy="667512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2512" y="3840479"/>
            <a:ext cx="411480" cy="29260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765EF"/>
                </a:solidFill>
                <a:latin typeface="Noto Sans CJK KR"/>
              </a:defRPr>
            </a:pPr>
            <a:r>
              <a:t>08</a:t>
            </a:r>
          </a:p>
        </p:txBody>
      </p:sp>
      <p:pic>
        <p:nvPicPr>
          <p:cNvPr id="47" name="Picture 46" descr="elevenlab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1152" y="3831335"/>
            <a:ext cx="356616" cy="35661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424928" y="3776472"/>
            <a:ext cx="1874519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3F"/>
                </a:solidFill>
                <a:latin typeface="Noto Sans CJK KR"/>
              </a:defRPr>
            </a:pPr>
            <a:r>
              <a:t>ElevenLabs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53728" y="3831335"/>
            <a:ext cx="2267712" cy="32918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음성·더빙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45352" y="4462272"/>
            <a:ext cx="5440680" cy="667512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82512" y="4626864"/>
            <a:ext cx="411480" cy="29260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765EF"/>
                </a:solidFill>
                <a:latin typeface="Noto Sans CJK KR"/>
              </a:defRPr>
            </a:pPr>
            <a:r>
              <a:t>09</a:t>
            </a:r>
          </a:p>
        </p:txBody>
      </p:sp>
      <p:pic>
        <p:nvPicPr>
          <p:cNvPr id="52" name="Picture 51" descr="runwa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1152" y="4617720"/>
            <a:ext cx="356616" cy="35661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424928" y="4562856"/>
            <a:ext cx="1874519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3F"/>
                </a:solidFill>
                <a:latin typeface="Noto Sans CJK KR"/>
              </a:defRPr>
            </a:pPr>
            <a:r>
              <a:t>Runway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53728" y="4617720"/>
            <a:ext cx="2267712" cy="32918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영상 생성·후반 제작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45352" y="5248656"/>
            <a:ext cx="5440680" cy="667512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82512" y="5413248"/>
            <a:ext cx="411480" cy="29260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765EF"/>
                </a:solidFill>
                <a:latin typeface="Noto Sans CJK KR"/>
              </a:defRPr>
            </a:pPr>
            <a:r>
              <a:t>10</a:t>
            </a:r>
          </a:p>
        </p:txBody>
      </p:sp>
      <p:pic>
        <p:nvPicPr>
          <p:cNvPr id="57" name="Picture 56" descr="gemini-colo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1152" y="5404104"/>
            <a:ext cx="356616" cy="35661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424928" y="5349240"/>
            <a:ext cx="1874519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3F"/>
                </a:solidFill>
                <a:latin typeface="Noto Sans CJK KR"/>
              </a:defRPr>
            </a:pPr>
            <a:r>
              <a:t>Gemini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53728" y="5404104"/>
            <a:ext cx="2267712" cy="32918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Google 업무 생태계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00584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65EF"/>
                </a:solidFill>
                <a:latin typeface="Noto Sans CJK KR"/>
              </a:defRPr>
            </a:pPr>
            <a:r>
              <a:t>2026 SOLO BUSINESS  /  03 /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62179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1233F"/>
                </a:solidFill>
                <a:latin typeface="Noto Sans CJK KR"/>
              </a:defRPr>
            </a:pPr>
            <a:r>
              <a:t>업무 범위와 콘텐츠 전문화는 다른 축이다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5029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68D"/>
                </a:solidFill>
                <a:latin typeface="Noto Sans CJK KR"/>
              </a:defRPr>
            </a:pPr>
            <a:r>
              <a:t>정성적 설명을 위한 편집자 배치 · 실제 성능 측정치나 가성비 점수가 아님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28232"/>
            <a:ext cx="11018520" cy="10972"/>
          </a:xfrm>
          <a:prstGeom prst="rect">
            <a:avLst/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698480" cy="2011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840" b="0">
                <a:solidFill>
                  <a:srgbClr val="66768D"/>
                </a:solidFill>
                <a:latin typeface="Noto Sans CJK KR"/>
              </a:defRPr>
            </a:pPr>
            <a:r>
              <a:t>AI TOP 10  •  의사결정용 리서치 브리프  •  2026.10.09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68D"/>
                </a:solidFill>
                <a:latin typeface="Noto Sans CJK KR"/>
              </a:defRPr>
            </a:pPr>
            <a:r>
              <a:t>04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41832" y="2103120"/>
          <a:ext cx="7589520" cy="373075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368296" y="2745943"/>
            <a:ext cx="128016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233F"/>
                </a:solidFill>
                <a:latin typeface="Noto Sans CJK KR"/>
              </a:defRPr>
            </a:pPr>
            <a:r>
              <a:t>ChatGPT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9241" y="3138220"/>
            <a:ext cx="128016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233F"/>
                </a:solidFill>
                <a:latin typeface="Noto Sans CJK KR"/>
              </a:defRPr>
            </a:pPr>
            <a:r>
              <a:t>Canva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2553" y="3892600"/>
            <a:ext cx="128016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233F"/>
                </a:solidFill>
                <a:latin typeface="Noto Sans CJK KR"/>
              </a:defRPr>
            </a:pPr>
            <a:r>
              <a:t>Higgsfield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3017520"/>
            <a:ext cx="128016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233F"/>
                </a:solidFill>
                <a:latin typeface="Noto Sans CJK KR"/>
              </a:defRPr>
            </a:pPr>
            <a:r>
              <a:t>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0219" y="4435754"/>
            <a:ext cx="128016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233F"/>
                </a:solidFill>
                <a:latin typeface="Noto Sans CJK KR"/>
              </a:defRPr>
            </a:pPr>
            <a:r>
              <a:t>Midjourney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1292" y="3590848"/>
            <a:ext cx="128016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233F"/>
                </a:solidFill>
                <a:latin typeface="Noto Sans CJK KR"/>
              </a:defRPr>
            </a:pPr>
            <a:r>
              <a:t>Perplexity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0881" y="4978908"/>
            <a:ext cx="128016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233F"/>
                </a:solidFill>
                <a:latin typeface="Noto Sans CJK KR"/>
              </a:defRPr>
            </a:pPr>
            <a:r>
              <a:t>Suno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2900" y="4707331"/>
            <a:ext cx="128016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233F"/>
                </a:solidFill>
                <a:latin typeface="Noto Sans CJK KR"/>
              </a:defRPr>
            </a:pPr>
            <a:r>
              <a:t>ElevenLabs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4225" y="3439972"/>
            <a:ext cx="128016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233F"/>
                </a:solidFill>
                <a:latin typeface="Noto Sans CJK KR"/>
              </a:defRPr>
            </a:pPr>
            <a:r>
              <a:t>Runway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6939" y="2806293"/>
            <a:ext cx="128016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233F"/>
                </a:solidFill>
                <a:latin typeface="Noto Sans CJK KR"/>
              </a:defRPr>
            </a:pPr>
            <a:r>
              <a:t>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5980176"/>
            <a:ext cx="45720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6768D"/>
                </a:solidFill>
                <a:latin typeface="Noto Sans CJK KR"/>
              </a:defRPr>
            </a:pPr>
            <a:r>
              <a:t>범용 업무  ←  콘텐츠 제작 전문화 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938528"/>
            <a:ext cx="3657600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68D"/>
                </a:solidFill>
                <a:latin typeface="Noto Sans CJK KR"/>
              </a:defRPr>
            </a:pPr>
            <a:r>
              <a:t>↑ 활용 범위가 넓음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78824" y="2377440"/>
            <a:ext cx="2633472" cy="3374136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624328"/>
            <a:ext cx="2167128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765EF"/>
                </a:solidFill>
                <a:latin typeface="Noto Sans CJK KR"/>
              </a:defRPr>
            </a:pPr>
            <a:r>
              <a:t>구독을 늘릴 때</a:t>
            </a:r>
          </a:p>
          <a:p>
            <a:pPr>
              <a:spcAft>
                <a:spcPts val="700"/>
              </a:spcAft>
              <a:defRPr sz="1900" b="1">
                <a:solidFill>
                  <a:srgbClr val="2765EF"/>
                </a:solidFill>
                <a:latin typeface="Noto Sans CJK KR"/>
              </a:defRPr>
            </a:pPr>
            <a:r>
              <a:t>빈 역할을 채운다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703320"/>
            <a:ext cx="2139696" cy="16916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72B49"/>
                </a:solidFill>
                <a:latin typeface="Noto Sans CJK KR"/>
              </a:defRPr>
            </a:pPr>
            <a:r>
              <a:t>비슷한 도구 3개보다</a:t>
            </a:r>
          </a:p>
          <a:p>
            <a:pPr>
              <a:spcAft>
                <a:spcPts val="700"/>
              </a:spcAft>
              <a:defRPr sz="1600" b="0">
                <a:solidFill>
                  <a:srgbClr val="172B49"/>
                </a:solidFill>
                <a:latin typeface="Noto Sans CJK KR"/>
              </a:defRPr>
            </a:pPr>
            <a:r>
              <a:t>서로 다른 역할 3개가</a:t>
            </a:r>
          </a:p>
          <a:p>
            <a:pPr>
              <a:spcAft>
                <a:spcPts val="700"/>
              </a:spcAft>
              <a:defRPr sz="1600" b="0">
                <a:solidFill>
                  <a:srgbClr val="172B49"/>
                </a:solidFill>
                <a:latin typeface="Noto Sans CJK KR"/>
              </a:defRPr>
            </a:pPr>
            <a:r>
              <a:t>완성 흐름을 만들기 쉽다.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00584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65EF"/>
                </a:solidFill>
                <a:latin typeface="Noto Sans CJK KR"/>
              </a:defRPr>
            </a:pPr>
            <a:r>
              <a:t>2026 SOLO BUSINESS  /  04 / PRICE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62179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1233F"/>
                </a:solidFill>
                <a:latin typeface="Noto Sans CJK KR"/>
              </a:defRPr>
            </a:pPr>
            <a:r>
              <a:t>가격 비교는 결제 주기부터 맞춰야 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5029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68D"/>
                </a:solidFill>
                <a:latin typeface="Noto Sans CJK KR"/>
              </a:defRPr>
            </a:pPr>
            <a:r>
              <a:t>아래는 보고서의 예산 합계를 재현하기 위한 계산 가정이다. 최신 판매가로 확인된 수치가 아니다.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28232"/>
            <a:ext cx="11018520" cy="10972"/>
          </a:xfrm>
          <a:prstGeom prst="rect">
            <a:avLst/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698480" cy="2011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840" b="0">
                <a:solidFill>
                  <a:srgbClr val="66768D"/>
                </a:solidFill>
                <a:latin typeface="Noto Sans CJK KR"/>
              </a:defRPr>
            </a:pPr>
            <a:r>
              <a:t>USD/월 모델 · Canva 13, Suno 8은 $46·$61 예산을 재현한 가정. 세금·추가 크레딧 제외. 최신 요금 재확인 필요.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68D"/>
                </a:solidFill>
                <a:latin typeface="Noto Sans CJK KR"/>
              </a:defRPr>
            </a:pPr>
            <a:r>
              <a:t>05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76656" y="2039112"/>
          <a:ext cx="75438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22792" y="2322576"/>
            <a:ext cx="2880360" cy="3438144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2615184"/>
            <a:ext cx="2423160" cy="6858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765EF"/>
                </a:solidFill>
                <a:latin typeface="Noto Sans CJK KR"/>
              </a:defRPr>
            </a:pPr>
            <a:r>
              <a:t>결제창 확인 항목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383280"/>
            <a:ext cx="2377440" cy="20574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72B49"/>
                </a:solidFill>
                <a:latin typeface="Noto Sans CJK KR"/>
              </a:defRPr>
            </a:pPr>
            <a:r>
              <a:t>월 결제 vs 연 결제</a:t>
            </a:r>
          </a:p>
          <a:p>
            <a:pPr>
              <a:spcAft>
                <a:spcPts val="700"/>
              </a:spcAft>
              <a:defRPr sz="1500" b="0">
                <a:solidFill>
                  <a:srgbClr val="172B49"/>
                </a:solidFill>
                <a:latin typeface="Noto Sans CJK KR"/>
              </a:defRPr>
            </a:pPr>
            <a:r>
              <a:t>상업 이용 범위</a:t>
            </a:r>
          </a:p>
          <a:p>
            <a:pPr>
              <a:spcAft>
                <a:spcPts val="700"/>
              </a:spcAft>
              <a:defRPr sz="1500" b="0">
                <a:solidFill>
                  <a:srgbClr val="172B49"/>
                </a:solidFill>
                <a:latin typeface="Noto Sans CJK KR"/>
              </a:defRPr>
            </a:pPr>
            <a:r>
              <a:t>생성 크레딧·초과 과금</a:t>
            </a:r>
          </a:p>
          <a:p>
            <a:pPr>
              <a:spcAft>
                <a:spcPts val="700"/>
              </a:spcAft>
              <a:defRPr sz="1500" b="0">
                <a:solidFill>
                  <a:srgbClr val="172B49"/>
                </a:solidFill>
                <a:latin typeface="Noto Sans CJK KR"/>
              </a:defRPr>
            </a:pPr>
            <a:r>
              <a:t>지역별 요금·세금</a:t>
            </a:r>
          </a:p>
          <a:p>
            <a:pPr>
              <a:spcAft>
                <a:spcPts val="700"/>
              </a:spcAft>
              <a:defRPr sz="1500" b="0">
                <a:solidFill>
                  <a:srgbClr val="172B49"/>
                </a:solidFill>
                <a:latin typeface="Noto Sans CJK KR"/>
              </a:defRPr>
            </a:pPr>
            <a:r>
              <a:t>Higgsfield: 금액 미확인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00584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65EF"/>
                </a:solidFill>
                <a:latin typeface="Noto Sans CJK KR"/>
              </a:defRPr>
            </a:pPr>
            <a:r>
              <a:t>2026 SOLO BUSINESS  /  05 / PAID SUBSCRIBERS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62179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1233F"/>
                </a:solidFill>
                <a:latin typeface="Noto Sans CJK KR"/>
              </a:defRPr>
            </a:pPr>
            <a:r>
              <a:t>유료 고객 규모 — 4개 서비스만 비교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5029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68D"/>
                </a:solidFill>
                <a:latin typeface="Noto Sans CJK KR"/>
              </a:defRPr>
            </a:pPr>
            <a:r>
              <a:t>단위: 백만 명. 서로 다른 시점·집계 범위·출처 유형의 수치를 나란히 제시한다.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28232"/>
            <a:ext cx="11018520" cy="10972"/>
          </a:xfrm>
          <a:prstGeom prst="rect">
            <a:avLst/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698480" cy="2011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840" b="0">
                <a:solidFill>
                  <a:srgbClr val="66768D"/>
                </a:solidFill>
                <a:latin typeface="Noto Sans CJK KR"/>
              </a:defRPr>
            </a:pPr>
            <a:r>
              <a:t>출처: 사용자 제공 보고서(조사 기준 2026.10.09). 원문·최신 수치는 이 환경에서 독립 검증하지 못함.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68D"/>
                </a:solidFill>
                <a:latin typeface="Noto Sans CJK KR"/>
              </a:defRPr>
            </a:pPr>
            <a:r>
              <a:t>06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67512" y="2176272"/>
          <a:ext cx="7470648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95360" y="2148840"/>
            <a:ext cx="2926080" cy="26517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Canva · 2025년 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432304"/>
            <a:ext cx="2926080" cy="51206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2765EF"/>
                </a:solidFill>
                <a:latin typeface="Noto Sans CJK KR"/>
              </a:defRPr>
            </a:pPr>
            <a:r>
              <a:t>3,120만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081528"/>
            <a:ext cx="2926080" cy="26517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Suno · 2026년 2월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364992"/>
            <a:ext cx="2926080" cy="51206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2765EF"/>
                </a:solidFill>
                <a:latin typeface="Noto Sans CJK KR"/>
              </a:defRPr>
            </a:pPr>
            <a:r>
              <a:t>200만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014216"/>
            <a:ext cx="2926080" cy="26517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Midjourney · 2026년 7월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297680"/>
            <a:ext cx="2926080" cy="51206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2765EF"/>
                </a:solidFill>
                <a:latin typeface="Noto Sans CJK KR"/>
              </a:defRPr>
            </a:pPr>
            <a:r>
              <a:t>139만 추정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946904"/>
            <a:ext cx="2926080" cy="26517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Higgsfield · 2026년 9월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5230368"/>
            <a:ext cx="2926080" cy="51206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2765EF"/>
                </a:solidFill>
                <a:latin typeface="Noto Sans CJK KR"/>
              </a:defRPr>
            </a:pPr>
            <a:r>
              <a:t>100만 근접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5660136"/>
            <a:ext cx="7205472" cy="457200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5751576"/>
            <a:ext cx="6839712" cy="25603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1233F"/>
                </a:solidFill>
                <a:latin typeface="Noto Sans CJK KR"/>
              </a:defRPr>
            </a:pPr>
            <a:r>
              <a:t>Canva는 전체 플랫폼 기준 · 미공개 6개는 0명으로 처리하지 않음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00584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65EF"/>
                </a:solidFill>
                <a:latin typeface="Noto Sans CJK KR"/>
              </a:defRPr>
            </a:pPr>
            <a:r>
              <a:t>2026 SOLO BUSINESS  /  06 / USER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62179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1233F"/>
                </a:solidFill>
                <a:latin typeface="Noto Sans CJK KR"/>
              </a:defRPr>
            </a:pPr>
            <a:r>
              <a:t>12억 WAU와 10억 MAU를 같은 순위로 읽지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5029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68D"/>
                </a:solidFill>
                <a:latin typeface="Noto Sans CJK KR"/>
              </a:defRPr>
            </a:pPr>
            <a:r>
              <a:t>유료 구독자 · 주간 활성 · 월간 활성 · 누적·등록 사용자는 서로 다른 지표다.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28232"/>
            <a:ext cx="11018520" cy="10972"/>
          </a:xfrm>
          <a:prstGeom prst="rect">
            <a:avLst/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698480" cy="2011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840" b="0">
                <a:solidFill>
                  <a:srgbClr val="66768D"/>
                </a:solidFill>
                <a:latin typeface="Noto Sans CJK KR"/>
              </a:defRPr>
            </a:pPr>
            <a:r>
              <a:t>출처: 사용자 제공 보고서(조사 기준 2026.10.09). 원문·최신 수치는 이 환경에서 독립 검증하지 못함.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68D"/>
                </a:solidFill>
                <a:latin typeface="Noto Sans CJK KR"/>
              </a:defRPr>
            </a:pPr>
            <a: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993392"/>
          <a:ext cx="10863072" cy="4073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57984"/>
                <a:gridCol w="2971800"/>
                <a:gridCol w="3630168"/>
              </a:tblGrid>
              <a:tr h="37033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서비스</a:t>
                      </a:r>
                    </a:p>
                  </a:txBody>
                  <a:tcPr marL="109728" marT="64008" marB="32004">
                    <a:solidFill>
                      <a:srgbClr val="11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보고서 수치</a:t>
                      </a:r>
                    </a:p>
                  </a:txBody>
                  <a:tcPr marL="109728" marT="64008" marB="32004">
                    <a:solidFill>
                      <a:srgbClr val="11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집계 정의</a:t>
                      </a:r>
                    </a:p>
                  </a:txBody>
                  <a:tcPr marL="109728" marT="64008" marB="32004">
                    <a:solidFill>
                      <a:srgbClr val="11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주의사항</a:t>
                      </a:r>
                    </a:p>
                  </a:txBody>
                  <a:tcPr marL="109728" marT="64008" marB="32004">
                    <a:solidFill>
                      <a:srgbClr val="11233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ChatGPT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12억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주간 활성(WAU)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회사 발표로 인용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Canva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2억 6,500만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월간 활성(MAU)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전체 플랫폼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Higgsfield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3,200만+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전체 이용자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활성 기간 불명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Claude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2억 7,130만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월간 사용자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외부 추정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Midjourney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2,100만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등록 사용자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외부 추정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Perplexity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4,500만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활성 사용자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외부 추정·기간 불명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Suno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1억+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누적 사용자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활성 사용자와 구분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ElevenLabs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미확인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비교 지표 없음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0명 아님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Runway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6,000만+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크리에이터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유료 사용자 아님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Gemini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10억+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월간 활성(MAU)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무료 이용자 포함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00584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65EF"/>
                </a:solidFill>
                <a:latin typeface="Noto Sans CJK KR"/>
              </a:defRPr>
            </a:pPr>
            <a:r>
              <a:t>2026 SOLO BUSINESS  /  07 / BUSINESS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62179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1233F"/>
                </a:solidFill>
                <a:latin typeface="Noto Sans CJK KR"/>
              </a:defRPr>
            </a:pPr>
            <a:r>
              <a:t>기업 규모는 매출 지표와 고객 범위를 함께 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5029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68D"/>
                </a:solidFill>
                <a:latin typeface="Noto Sans CJK KR"/>
              </a:defRPr>
            </a:pPr>
            <a:r>
              <a:t>직원 수·기업가치는 원자료가 없어 비교하지 않는다. 아래는 보고서에 인용된 매출 규모다.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28232"/>
            <a:ext cx="11018520" cy="10972"/>
          </a:xfrm>
          <a:prstGeom prst="rect">
            <a:avLst/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698480" cy="2011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840" b="0">
                <a:solidFill>
                  <a:srgbClr val="66768D"/>
                </a:solidFill>
                <a:latin typeface="Noto Sans CJK KR"/>
              </a:defRPr>
            </a:pPr>
            <a:r>
              <a:t>출처: 사용자 제공 보고서(조사 기준 2026.10.09). 원문·최신 수치는 이 환경에서 독립 검증하지 못함.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68D"/>
                </a:solidFill>
                <a:latin typeface="Noto Sans CJK KR"/>
              </a:defRPr>
            </a:pPr>
            <a:r>
              <a:t>08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76656" y="2240280"/>
          <a:ext cx="6766560" cy="322783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55279" y="2295144"/>
            <a:ext cx="3657600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765EF"/>
                </a:solidFill>
                <a:latin typeface="Noto Sans CJK KR"/>
              </a:defRPr>
            </a:pPr>
            <a:r>
              <a:t>Suno  |  $300M ARR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734056"/>
            <a:ext cx="3657600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2026년 2월 · 반복 매출 지표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310128"/>
            <a:ext cx="3657600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765EF"/>
                </a:solidFill>
                <a:latin typeface="Noto Sans CJK KR"/>
              </a:defRPr>
            </a:pPr>
            <a:r>
              <a:t>ElevenLabs  |  $500M+ ARR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749040"/>
            <a:ext cx="3657600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2026년 5월 · 기업 고객 매출 포함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325112"/>
            <a:ext cx="3657600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765EF"/>
                </a:solidFill>
                <a:latin typeface="Noto Sans CJK KR"/>
              </a:defRPr>
            </a:pPr>
            <a:r>
              <a:t>Higgsfield  |  $1B+ run-rate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764024"/>
            <a:ext cx="3657600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2026년 9월 · 사용량 기반 결제 포함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5696712"/>
            <a:ext cx="10707624" cy="393192"/>
          </a:xfrm>
          <a:prstGeom prst="rect">
            <a:avLst/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5751576"/>
            <a:ext cx="10241280" cy="26517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1233F"/>
                </a:solidFill>
                <a:latin typeface="Noto Sans CJK KR"/>
              </a:defRPr>
            </a:pPr>
            <a:r>
              <a:t>ARR ≠ 회계상 확정 연매출. 막대의 500·1,000은 보고서의 “이상”을 하한으로 표시한 값.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00584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65EF"/>
                </a:solidFill>
                <a:latin typeface="Noto Sans CJK KR"/>
              </a:defRPr>
            </a:pPr>
            <a:r>
              <a:t>2026 SOLO BUSINESS  /  08 / GENERAL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62179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1233F"/>
                </a:solidFill>
                <a:latin typeface="Noto Sans CJK KR"/>
              </a:defRPr>
            </a:pPr>
            <a:r>
              <a:t>ChatGPT · Claude · Gemini — 한 개부터 깊게 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5029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68D"/>
                </a:solidFill>
                <a:latin typeface="Noto Sans CJK KR"/>
              </a:defRPr>
            </a:pPr>
            <a:r>
              <a:t>같은 실제 업무 3건을 수행하고, 수정 시간과 최종 품질로 선택한다.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28232"/>
            <a:ext cx="11018520" cy="10972"/>
          </a:xfrm>
          <a:prstGeom prst="rect">
            <a:avLst/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698480" cy="2011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840" b="0">
                <a:solidFill>
                  <a:srgbClr val="66768D"/>
                </a:solidFill>
                <a:latin typeface="Noto Sans CJK KR"/>
              </a:defRPr>
            </a:pPr>
            <a:r>
              <a:t>AI TOP 10  •  의사결정용 리서치 브리프  •  2026.10.09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68D"/>
                </a:solidFill>
                <a:latin typeface="Noto Sans CJK KR"/>
              </a:defRPr>
            </a:pPr>
            <a:r>
              <a:t>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066543"/>
          <a:ext cx="10863072" cy="2157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343400"/>
                <a:gridCol w="4553712"/>
              </a:tblGrid>
              <a:tr h="53949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도구</a:t>
                      </a:r>
                    </a:p>
                  </a:txBody>
                  <a:tcPr marL="109728" marT="64008" marB="32004">
                    <a:solidFill>
                      <a:srgbClr val="11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첫 실험 과제</a:t>
                      </a:r>
                    </a:p>
                  </a:txBody>
                  <a:tcPr marL="109728" marT="64008" marB="32004">
                    <a:solidFill>
                      <a:srgbClr val="11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선택을 검토할 상황</a:t>
                      </a:r>
                    </a:p>
                  </a:txBody>
                  <a:tcPr marL="109728" marT="64008" marB="32004">
                    <a:solidFill>
                      <a:srgbClr val="11233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ChatGPT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기획안·데이터 요약·업무 초안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여러 종류의 업무를 한 도구로 처리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Claude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긴 문서 편집·코드 검토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문서와 개발 업무 비중이 큼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Gemini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자료 탐색·Google 업무 연결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Google 도구 중심으로 업무를 운영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14400" y="4553712"/>
            <a:ext cx="4800600" cy="1289304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laude-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426" y="4608576"/>
            <a:ext cx="1802547" cy="1152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5934456"/>
            <a:ext cx="4754880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68D"/>
                </a:solidFill>
                <a:latin typeface="Noto Sans CJK KR"/>
              </a:defRPr>
            </a:pPr>
            <a:r>
              <a:t>Claude Code 공식 저장소 데모¹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553712"/>
            <a:ext cx="4800600" cy="1289304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emini-produ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8912" y="4608576"/>
            <a:ext cx="2155815" cy="11521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6520" y="5934456"/>
            <a:ext cx="4754880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68D"/>
                </a:solidFill>
                <a:latin typeface="Noto Sans CJK KR"/>
              </a:defRPr>
            </a:pPr>
            <a:r>
              <a:t>Gemini CLI 공식 저장소 스크린샷¹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00584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65EF"/>
                </a:solidFill>
                <a:latin typeface="Noto Sans CJK KR"/>
              </a:defRPr>
            </a:pPr>
            <a:r>
              <a:t>2026 SOLO BUSINESS  /  09 / CREATIVE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62179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1233F"/>
                </a:solidFill>
                <a:latin typeface="Noto Sans CJK KR"/>
              </a:defRPr>
            </a:pPr>
            <a:r>
              <a:t>이미지와 영상은 “완성본” 기준으로 견적 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5029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68D"/>
                </a:solidFill>
                <a:latin typeface="Noto Sans CJK KR"/>
              </a:defRPr>
            </a:pPr>
            <a:r>
              <a:t>같은 브리프 → 같은 납품 형식 → 동일한 검수 기준으로 비교한다.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28232"/>
            <a:ext cx="11018520" cy="10972"/>
          </a:xfrm>
          <a:prstGeom prst="rect">
            <a:avLst/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698480" cy="2011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840" b="0">
                <a:solidFill>
                  <a:srgbClr val="66768D"/>
                </a:solidFill>
                <a:latin typeface="Noto Sans CJK KR"/>
              </a:defRPr>
            </a:pPr>
            <a:r>
              <a:t>AI TOP 10  •  의사결정용 리서치 브리프  •  2026.10.09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68D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21992"/>
            <a:ext cx="3493008" cy="3355848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496312"/>
            <a:ext cx="438912" cy="438912"/>
          </a:xfrm>
          <a:prstGeom prst="roundRect">
            <a:avLst>
              <a:gd name="adj" fmla="val 13000"/>
            </a:avLst>
          </a:prstGeom>
          <a:solidFill>
            <a:srgbClr val="11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514600"/>
            <a:ext cx="438912" cy="4389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ctr">
              <a:spcAft>
                <a:spcPts val="700"/>
              </a:spcAft>
              <a:defRPr sz="1872" b="1">
                <a:solidFill>
                  <a:srgbClr val="FFFFFF"/>
                </a:solidFill>
                <a:latin typeface="Noto Sans CJK KR"/>
              </a:defRPr>
            </a:pPr>
            <a:r>
              <a:t>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523744"/>
            <a:ext cx="2377440" cy="4114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1233F"/>
                </a:solidFill>
                <a:latin typeface="Noto Sans CJK KR"/>
              </a:defRPr>
            </a:pPr>
            <a:r>
              <a:t>Higgsfield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246120"/>
            <a:ext cx="3017520" cy="4297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765EF"/>
                </a:solidFill>
                <a:latin typeface="Noto Sans CJK KR"/>
              </a:defRPr>
            </a:pPr>
            <a:r>
              <a:t>광고·소셜 영상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950208"/>
            <a:ext cx="2926080" cy="12801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2B49"/>
                </a:solidFill>
                <a:latin typeface="Noto Sans CJK KR"/>
              </a:defRPr>
            </a:pPr>
            <a:r>
              <a:t>장면·인물 일관성</a:t>
            </a:r>
          </a:p>
          <a:p>
            <a:pPr>
              <a:spcAft>
                <a:spcPts val="700"/>
              </a:spcAft>
              <a:defRPr sz="1700" b="0">
                <a:solidFill>
                  <a:srgbClr val="172B49"/>
                </a:solidFill>
                <a:latin typeface="Noto Sans CJK KR"/>
              </a:defRPr>
            </a:pPr>
            <a:r>
              <a:t>재시도 횟수</a:t>
            </a:r>
          </a:p>
          <a:p>
            <a:pPr>
              <a:spcAft>
                <a:spcPts val="700"/>
              </a:spcAft>
              <a:defRPr sz="1700" b="0">
                <a:solidFill>
                  <a:srgbClr val="172B49"/>
                </a:solidFill>
                <a:latin typeface="Noto Sans CJK KR"/>
              </a:defRPr>
            </a:pPr>
            <a:r>
              <a:t>클립당 생성 비용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221992"/>
            <a:ext cx="3493008" cy="3355848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un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2496312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57800" y="2523744"/>
            <a:ext cx="2377440" cy="4114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1233F"/>
                </a:solidFill>
                <a:latin typeface="Noto Sans CJK KR"/>
              </a:defRPr>
            </a:pPr>
            <a:r>
              <a:t>Runway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246120"/>
            <a:ext cx="3017520" cy="4297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765EF"/>
                </a:solidFill>
                <a:latin typeface="Noto Sans CJK KR"/>
              </a:defRPr>
            </a:pPr>
            <a:r>
              <a:t>영상 생성·편집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3950208"/>
            <a:ext cx="2926080" cy="12801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2B49"/>
                </a:solidFill>
                <a:latin typeface="Noto Sans CJK KR"/>
              </a:defRPr>
            </a:pPr>
            <a:r>
              <a:t>수정 통제 수준</a:t>
            </a:r>
          </a:p>
          <a:p>
            <a:pPr>
              <a:spcAft>
                <a:spcPts val="700"/>
              </a:spcAft>
              <a:defRPr sz="1700" b="0">
                <a:solidFill>
                  <a:srgbClr val="172B49"/>
                </a:solidFill>
                <a:latin typeface="Noto Sans CJK KR"/>
              </a:defRPr>
            </a:pPr>
            <a:r>
              <a:t>최종 해상도</a:t>
            </a:r>
          </a:p>
          <a:p>
            <a:pPr>
              <a:spcAft>
                <a:spcPts val="700"/>
              </a:spcAft>
              <a:defRPr sz="1700" b="0">
                <a:solidFill>
                  <a:srgbClr val="172B49"/>
                </a:solidFill>
                <a:latin typeface="Noto Sans CJK KR"/>
              </a:defRPr>
            </a:pPr>
            <a:r>
              <a:t>제작 시간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2221992"/>
            <a:ext cx="3493008" cy="3355848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idjour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7" y="2496312"/>
            <a:ext cx="438912" cy="4389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06839" y="2523744"/>
            <a:ext cx="2377440" cy="4114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1233F"/>
                </a:solidFill>
                <a:latin typeface="Noto Sans CJK KR"/>
              </a:defRPr>
            </a:pPr>
            <a:r>
              <a:t>Midjourney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7" y="3246120"/>
            <a:ext cx="3017520" cy="4297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765EF"/>
                </a:solidFill>
                <a:latin typeface="Noto Sans CJK KR"/>
              </a:defRPr>
            </a:pPr>
            <a:r>
              <a:t>브랜드 이미지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7" y="3950208"/>
            <a:ext cx="2926080" cy="12801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2B49"/>
                </a:solidFill>
                <a:latin typeface="Noto Sans CJK KR"/>
              </a:defRPr>
            </a:pPr>
            <a:r>
              <a:t>스타일 적합성</a:t>
            </a:r>
          </a:p>
          <a:p>
            <a:pPr>
              <a:spcAft>
                <a:spcPts val="700"/>
              </a:spcAft>
              <a:defRPr sz="1700" b="0">
                <a:solidFill>
                  <a:srgbClr val="172B49"/>
                </a:solidFill>
                <a:latin typeface="Noto Sans CJK KR"/>
              </a:defRPr>
            </a:pPr>
            <a:r>
              <a:t>후반 보정 시간</a:t>
            </a:r>
          </a:p>
          <a:p>
            <a:pPr>
              <a:spcAft>
                <a:spcPts val="700"/>
              </a:spcAft>
              <a:defRPr sz="1700" b="0">
                <a:solidFill>
                  <a:srgbClr val="172B49"/>
                </a:solidFill>
                <a:latin typeface="Noto Sans CJK KR"/>
              </a:defRPr>
            </a:pPr>
            <a:r>
              <a:t>납품 가능한 비율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24728"/>
            <a:ext cx="10881360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765EF"/>
                </a:solidFill>
                <a:latin typeface="Noto Sans CJK KR"/>
              </a:defRPr>
            </a:pPr>
            <a:r>
              <a:t>채택률 = 납품 가능한 결과물 ÷ 전체 생성 결과물  →  크레딧 가격보다 실질적인 비용 지표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00584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65EF"/>
                </a:solidFill>
                <a:latin typeface="Noto Sans CJK KR"/>
              </a:defRPr>
            </a:pPr>
            <a:r>
              <a:t>2026 SOLO BUSINESS  /  10 / DESIGN &amp; AUDIO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62179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1233F"/>
                </a:solidFill>
                <a:latin typeface="Noto Sans CJK KR"/>
              </a:defRPr>
            </a:pPr>
            <a:r>
              <a:t>디자인·음악·음성은 한 편의 콘텐츠로 연결된다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5029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68D"/>
                </a:solidFill>
                <a:latin typeface="Noto Sans CJK KR"/>
              </a:defRPr>
            </a:pPr>
            <a:r>
              <a:t>Canva · Suno · ElevenLabs를 역할별로 조합하고, 사용 조건을 납품 전에 확인한다.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28232"/>
            <a:ext cx="11018520" cy="10972"/>
          </a:xfrm>
          <a:prstGeom prst="rect">
            <a:avLst/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698480" cy="2011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840" b="0">
                <a:solidFill>
                  <a:srgbClr val="66768D"/>
                </a:solidFill>
                <a:latin typeface="Noto Sans CJK KR"/>
              </a:defRPr>
            </a:pPr>
            <a:r>
              <a:t>AI TOP 10  •  의사결정용 리서치 브리프  •  2026.10.09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68D"/>
                </a:solidFill>
                <a:latin typeface="Noto Sans CJK KR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3493008" cy="3310128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n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87752"/>
            <a:ext cx="484632" cy="4846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36192" y="2596896"/>
            <a:ext cx="2194560" cy="4572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1233F"/>
                </a:solidFill>
                <a:latin typeface="Noto Sans CJK KR"/>
              </a:defRPr>
            </a:pPr>
            <a:r>
              <a:t>Canva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64992"/>
            <a:ext cx="2926080" cy="4297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765EF"/>
                </a:solidFill>
                <a:latin typeface="Noto Sans CJK KR"/>
              </a:defRPr>
            </a:pPr>
            <a:r>
              <a:t>브랜드와 레이아웃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23944"/>
            <a:ext cx="2926080" cy="10972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72B49"/>
                </a:solidFill>
                <a:latin typeface="Noto Sans CJK KR"/>
              </a:defRPr>
            </a:pPr>
            <a:r>
              <a:t>표지·카드뉴스·제안서</a:t>
            </a:r>
          </a:p>
          <a:p>
            <a:pPr>
              <a:spcAft>
                <a:spcPts val="700"/>
              </a:spcAft>
              <a:defRPr sz="1600" b="0">
                <a:solidFill>
                  <a:srgbClr val="172B49"/>
                </a:solidFill>
                <a:latin typeface="Noto Sans CJK KR"/>
              </a:defRPr>
            </a:pPr>
            <a:r>
              <a:t>템플릿으로 톤과 형식 통일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286000"/>
            <a:ext cx="3493008" cy="3310128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u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587752"/>
            <a:ext cx="484632" cy="4846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85231" y="2596896"/>
            <a:ext cx="2194560" cy="4572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1233F"/>
                </a:solidFill>
                <a:latin typeface="Noto Sans CJK KR"/>
              </a:defRPr>
            </a:pPr>
            <a:r>
              <a:t>Suno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364992"/>
            <a:ext cx="2926080" cy="4297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765EF"/>
                </a:solidFill>
                <a:latin typeface="Noto Sans CJK KR"/>
              </a:defRPr>
            </a:pPr>
            <a:r>
              <a:t>음악과 분위기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23944"/>
            <a:ext cx="2926080" cy="10972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72B49"/>
                </a:solidFill>
                <a:latin typeface="Noto Sans CJK KR"/>
              </a:defRPr>
            </a:pPr>
            <a:r>
              <a:t>배경음·음악 콘텐츠</a:t>
            </a:r>
          </a:p>
          <a:p>
            <a:pPr>
              <a:spcAft>
                <a:spcPts val="700"/>
              </a:spcAft>
              <a:defRPr sz="1600" b="0">
                <a:solidFill>
                  <a:srgbClr val="172B49"/>
                </a:solidFill>
                <a:latin typeface="Noto Sans CJK KR"/>
              </a:defRPr>
            </a:pPr>
            <a:r>
              <a:t>사용 플랜의 이용 조건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2286000"/>
            <a:ext cx="3493008" cy="3310128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elevenlab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587752"/>
            <a:ext cx="484632" cy="4846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034272" y="2596896"/>
            <a:ext cx="2194560" cy="4572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1233F"/>
                </a:solidFill>
                <a:latin typeface="Noto Sans CJK KR"/>
              </a:defRPr>
            </a:pPr>
            <a:r>
              <a:t>ElevenLabs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364992"/>
            <a:ext cx="2926080" cy="4297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765EF"/>
                </a:solidFill>
                <a:latin typeface="Noto Sans CJK KR"/>
              </a:defRPr>
            </a:pPr>
            <a:r>
              <a:t>음성과 전달력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123944"/>
            <a:ext cx="2926080" cy="10972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72B49"/>
                </a:solidFill>
                <a:latin typeface="Noto Sans CJK KR"/>
              </a:defRPr>
            </a:pPr>
            <a:r>
              <a:t>내레이션·더빙·음성 제작</a:t>
            </a:r>
          </a:p>
          <a:p>
            <a:pPr>
              <a:spcAft>
                <a:spcPts val="700"/>
              </a:spcAft>
              <a:defRPr sz="1600" b="0">
                <a:solidFill>
                  <a:srgbClr val="172B49"/>
                </a:solidFill>
                <a:latin typeface="Noto Sans CJK KR"/>
              </a:defRPr>
            </a:pPr>
            <a:r>
              <a:t>음성 권리와 품질 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861304"/>
            <a:ext cx="10789920" cy="32918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765EF"/>
                </a:solidFill>
                <a:latin typeface="Noto Sans CJK KR"/>
              </a:defRPr>
            </a:pPr>
            <a:r>
              <a:t>Perplexity는 앞단의 리서치에 배치: 인용한 원문을 열어 사실·날짜·맥락까지 검토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00584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65EF"/>
                </a:solidFill>
                <a:latin typeface="Noto Sans CJK KR"/>
              </a:defRPr>
            </a:pPr>
            <a:r>
              <a:t>2026 SOLO BUSINESS  /  11 / VALUE FOR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62179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1233F"/>
                </a:solidFill>
                <a:latin typeface="Noto Sans CJK KR"/>
              </a:defRPr>
            </a:pPr>
            <a:r>
              <a:t>가성비는 절약 시간을 돈으로 바꿔 계산한다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5029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68D"/>
                </a:solidFill>
                <a:latin typeface="Noto Sans CJK KR"/>
              </a:defRPr>
            </a:pPr>
            <a:r>
              <a:t>가상 시나리오: 월 구독료 $46, 시간 가치 $30/h. 실제 도구 성능이나 보장 수익을 뜻하지 않는다.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28232"/>
            <a:ext cx="11018520" cy="10972"/>
          </a:xfrm>
          <a:prstGeom prst="rect">
            <a:avLst/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698480" cy="2011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840" b="0">
                <a:solidFill>
                  <a:srgbClr val="66768D"/>
                </a:solidFill>
                <a:latin typeface="Noto Sans CJK KR"/>
              </a:defRPr>
            </a:pPr>
            <a:r>
              <a:t>AI TOP 10  •  의사결정용 리서치 브리프  •  2026.10.09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68D"/>
                </a:solidFill>
                <a:latin typeface="Noto Sans CJK KR"/>
              </a:defRPr>
            </a:pPr>
            <a:r>
              <a:t>12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04088" y="2286000"/>
          <a:ext cx="6821424" cy="3575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055864" y="2368296"/>
            <a:ext cx="3456432" cy="3310128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2551176"/>
            <a:ext cx="3054096" cy="38404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66768D"/>
                </a:solidFill>
                <a:latin typeface="Noto Sans CJK KR"/>
              </a:defRPr>
            </a:pPr>
            <a:r>
              <a:t>구독료 손익분기 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2" y="3090672"/>
            <a:ext cx="3054096" cy="6949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16A6A1"/>
                </a:solidFill>
                <a:latin typeface="Noto Sans CJK KR"/>
              </a:defRPr>
            </a:pPr>
            <a:r>
              <a:t>1.53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2" y="3941063"/>
            <a:ext cx="3054096" cy="166420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72B49"/>
                </a:solidFill>
                <a:latin typeface="Noto Sans CJK KR"/>
              </a:defRPr>
            </a:pPr>
            <a:r>
              <a:t>46 ÷ 30 = 약 92분/월</a:t>
            </a:r>
          </a:p>
          <a:p>
            <a:pPr>
              <a:spcAft>
                <a:spcPts val="700"/>
              </a:spcAft>
              <a:defRPr sz="1500" b="0">
                <a:solidFill>
                  <a:srgbClr val="172B49"/>
                </a:solidFill>
                <a:latin typeface="Noto Sans CJK KR"/>
              </a:defRPr>
            </a:pPr>
            <a:r>
              <a:t>검수·수정 시간을 뺀</a:t>
            </a:r>
          </a:p>
          <a:p>
            <a:pPr>
              <a:spcAft>
                <a:spcPts val="700"/>
              </a:spcAft>
              <a:defRPr sz="1500" b="0">
                <a:solidFill>
                  <a:srgbClr val="172B49"/>
                </a:solidFill>
                <a:latin typeface="Noto Sans CJK KR"/>
              </a:defRPr>
            </a:pPr>
            <a:r>
              <a:t>순절감 시간으로 판단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998464"/>
            <a:ext cx="10424160" cy="25603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765EF"/>
                </a:solidFill>
                <a:latin typeface="Noto Sans CJK KR"/>
              </a:defRPr>
            </a:pPr>
            <a:r>
              <a:t>순편익 = 절약 시간 × 시간 가치 + 추가 기여이익 − 구독료 − 크레딧·재작업 비용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00584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65EF"/>
                </a:solidFill>
                <a:latin typeface="Noto Sans CJK KR"/>
              </a:defRPr>
            </a:pPr>
            <a:r>
              <a:t>2026 SOLO BUSINESS  /  12 / BUDGET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62179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1233F"/>
                </a:solidFill>
                <a:latin typeface="Noto Sans CJK KR"/>
              </a:defRPr>
            </a:pPr>
            <a:r>
              <a:t>예산은 단계적으로 — $20 → $46 → $61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5029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68D"/>
                </a:solidFill>
                <a:latin typeface="Noto Sans CJK KR"/>
              </a:defRPr>
            </a:pPr>
            <a:r>
              <a:t>원문 예산을 재현한 모델. 구성별 가격은 검증된 최신 요금이 아니며 연 결제 월 환산이 섞여 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28232"/>
            <a:ext cx="11018520" cy="10972"/>
          </a:xfrm>
          <a:prstGeom prst="rect">
            <a:avLst/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698480" cy="2011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840" b="0">
                <a:solidFill>
                  <a:srgbClr val="66768D"/>
                </a:solidFill>
                <a:latin typeface="Noto Sans CJK KR"/>
              </a:defRPr>
            </a:pPr>
            <a:r>
              <a:t>계산 가정: ChatGPT 20 + Canva 13 + Suno 8 + ElevenLabs 5 + Runway 15 (USD/월). 실결제 전 가격 확인.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68D"/>
                </a:solidFill>
                <a:latin typeface="Noto Sans CJK KR"/>
              </a:defRPr>
            </a:pPr>
            <a:r>
              <a:t>13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77240" y="2148840"/>
          <a:ext cx="6931152" cy="40050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0" y="2414016"/>
            <a:ext cx="3291840" cy="38404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765EF"/>
                </a:solidFill>
                <a:latin typeface="Noto Sans CJK KR"/>
              </a:defRPr>
            </a:pPr>
            <a:r>
              <a:t>STARTER  /  $20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871216"/>
            <a:ext cx="3291840" cy="58521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6768D"/>
                </a:solidFill>
                <a:latin typeface="Noto Sans CJK KR"/>
              </a:defRPr>
            </a:pPr>
            <a:r>
              <a:t>ChatGPT + Canva Free</a:t>
            </a:r>
          </a:p>
          <a:p>
            <a:pPr>
              <a:spcAft>
                <a:spcPts val="700"/>
              </a:spcAft>
              <a:defRPr sz="1300" b="0">
                <a:solidFill>
                  <a:srgbClr val="66768D"/>
                </a:solidFill>
                <a:latin typeface="Noto Sans CJK KR"/>
              </a:defRPr>
            </a:pPr>
            <a:r>
              <a:t>+ Perplexity 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557016"/>
            <a:ext cx="3291840" cy="38404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765EF"/>
                </a:solidFill>
                <a:latin typeface="Noto Sans CJK KR"/>
              </a:defRPr>
            </a:pPr>
            <a:r>
              <a:t>BALANCED  /  $46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014216"/>
            <a:ext cx="3291840" cy="58521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6768D"/>
                </a:solidFill>
                <a:latin typeface="Noto Sans CJK KR"/>
              </a:defRPr>
            </a:pPr>
            <a:r>
              <a:t>기획 + 디자인 + 음악 + 음성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700016"/>
            <a:ext cx="3291840" cy="38404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765EF"/>
                </a:solidFill>
                <a:latin typeface="Noto Sans CJK KR"/>
              </a:defRPr>
            </a:pPr>
            <a:r>
              <a:t>CREATOR  /  $61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157216"/>
            <a:ext cx="3291840" cy="58521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6768D"/>
                </a:solidFill>
                <a:latin typeface="Noto Sans CJK KR"/>
              </a:defRPr>
            </a:pPr>
            <a:r>
              <a:t>BALANCED 구성에 Runway 추가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00584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65EF"/>
                </a:solidFill>
                <a:latin typeface="Noto Sans CJK KR"/>
              </a:defRPr>
            </a:pPr>
            <a:r>
              <a:t>2026 SOLO BUSINESS  /  13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62179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1233F"/>
                </a:solidFill>
                <a:latin typeface="Noto Sans CJK KR"/>
              </a:defRPr>
            </a:pPr>
            <a:r>
              <a:t>도구 목록을 제작 파이프라인으로 바꾼다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5029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68D"/>
                </a:solidFill>
                <a:latin typeface="Noto Sans CJK KR"/>
              </a:defRPr>
            </a:pPr>
            <a:r>
              <a:t>각 단계에 입력·출력·검수 기준이 있어야 사람이 다시 작업하는 시간이 줄어든다.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28232"/>
            <a:ext cx="11018520" cy="10972"/>
          </a:xfrm>
          <a:prstGeom prst="rect">
            <a:avLst/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698480" cy="2011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840" b="0">
                <a:solidFill>
                  <a:srgbClr val="66768D"/>
                </a:solidFill>
                <a:latin typeface="Noto Sans CJK KR"/>
              </a:defRPr>
            </a:pPr>
            <a:r>
              <a:t>AI TOP 10  •  의사결정용 리서치 브리프  •  2026.10.09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68D"/>
                </a:solidFill>
                <a:latin typeface="Noto Sans CJK KR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468880"/>
            <a:ext cx="1984248" cy="2615184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651760"/>
            <a:ext cx="1645920" cy="34747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765EF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191256"/>
            <a:ext cx="1655064" cy="4297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1233F"/>
                </a:solidFill>
                <a:latin typeface="Noto Sans CJK KR"/>
              </a:defRPr>
            </a:pPr>
            <a:r>
              <a:t>리서치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867912"/>
            <a:ext cx="1700784" cy="58521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Perplexity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590288"/>
            <a:ext cx="1673352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765EF"/>
                </a:solidFill>
                <a:latin typeface="Noto Sans CJK KR"/>
              </a:defRPr>
            </a:pPr>
            <a:r>
              <a:t>출처·문제 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3520440"/>
            <a:ext cx="201168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765EF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71216" y="2468880"/>
            <a:ext cx="1984248" cy="2615184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26664" y="2651760"/>
            <a:ext cx="1645920" cy="34747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765EF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4" y="3191256"/>
            <a:ext cx="1655064" cy="4297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1233F"/>
                </a:solidFill>
                <a:latin typeface="Noto Sans CJK KR"/>
              </a:defRPr>
            </a:pPr>
            <a:r>
              <a:t>기획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4" y="3867912"/>
            <a:ext cx="1700784" cy="58521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ChatGPT / 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6664" y="4590288"/>
            <a:ext cx="1673352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765EF"/>
                </a:solidFill>
                <a:latin typeface="Noto Sans CJK KR"/>
              </a:defRPr>
            </a:pPr>
            <a:r>
              <a:t>대본·구성안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3520440"/>
            <a:ext cx="201168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765EF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2468880"/>
            <a:ext cx="1984248" cy="2615184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94376" y="2651760"/>
            <a:ext cx="1645920" cy="34747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765EF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3191256"/>
            <a:ext cx="1655064" cy="4297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1233F"/>
                </a:solidFill>
                <a:latin typeface="Noto Sans CJK KR"/>
              </a:defRPr>
            </a:pPr>
            <a:r>
              <a:t>비주얼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4376" y="3867912"/>
            <a:ext cx="1700784" cy="58521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Canva / Midjourney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4376" y="4590288"/>
            <a:ext cx="1673352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765EF"/>
                </a:solidFill>
                <a:latin typeface="Noto Sans CJK KR"/>
              </a:defRPr>
            </a:pPr>
            <a:r>
              <a:t>디자인·소재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520440"/>
            <a:ext cx="201168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765EF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2468880"/>
            <a:ext cx="1984248" cy="2615184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2088" y="2651760"/>
            <a:ext cx="1645920" cy="34747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765EF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2088" y="3191256"/>
            <a:ext cx="1655064" cy="4297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1233F"/>
                </a:solidFill>
                <a:latin typeface="Noto Sans CJK KR"/>
              </a:defRPr>
            </a:pPr>
            <a:r>
              <a:t>제작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088" y="3867912"/>
            <a:ext cx="1700784" cy="58521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Higgsfield / Runway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4590288"/>
            <a:ext cx="1673352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765EF"/>
                </a:solidFill>
                <a:latin typeface="Noto Sans CJK KR"/>
              </a:defRPr>
            </a:pPr>
            <a:r>
              <a:t>영상 초안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5752" y="3520440"/>
            <a:ext cx="201168" cy="365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765EF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74352" y="2468880"/>
            <a:ext cx="1984248" cy="2615184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9800" y="2651760"/>
            <a:ext cx="1645920" cy="34747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765EF"/>
                </a:solidFill>
                <a:latin typeface="Noto Sans CJK KR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3191256"/>
            <a:ext cx="1655064" cy="4297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1233F"/>
                </a:solidFill>
                <a:latin typeface="Noto Sans CJK KR"/>
              </a:defRPr>
            </a:pPr>
            <a:r>
              <a:t>오디오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3867912"/>
            <a:ext cx="1700784" cy="58521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68D"/>
                </a:solidFill>
                <a:latin typeface="Noto Sans CJK KR"/>
              </a:defRPr>
            </a:pPr>
            <a:r>
              <a:t>Suno / ElevenLabs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4590288"/>
            <a:ext cx="1673352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765EF"/>
                </a:solidFill>
                <a:latin typeface="Noto Sans CJK KR"/>
              </a:defRPr>
            </a:pPr>
            <a:r>
              <a:t>음악·내레이션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532120"/>
            <a:ext cx="10853928" cy="539496"/>
          </a:xfrm>
          <a:prstGeom prst="roundRect">
            <a:avLst>
              <a:gd name="adj" fmla="val 13000"/>
            </a:avLst>
          </a:prstGeom>
          <a:solidFill>
            <a:srgbClr val="11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5256" y="5678424"/>
            <a:ext cx="10332720" cy="29260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FFFF"/>
                </a:solidFill>
                <a:latin typeface="Noto Sans CJK KR"/>
              </a:defRPr>
            </a:pPr>
            <a:r>
              <a:t>최종 검수  →  사실·저작권·브랜드·납품 규격 확인  →  배포와 성과 측정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00584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65EF"/>
                </a:solidFill>
                <a:latin typeface="Noto Sans CJK KR"/>
              </a:defRPr>
            </a:pPr>
            <a:r>
              <a:t>2026 SOLO BUSINESS  /  14 /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62179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1233F"/>
                </a:solidFill>
                <a:latin typeface="Noto Sans CJK KR"/>
              </a:defRPr>
            </a:pPr>
            <a:r>
              <a:t>월 구독료보다 “완성 콘텐츠 1편당 원가”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5029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68D"/>
                </a:solidFill>
                <a:latin typeface="Noto Sans CJK KR"/>
              </a:defRPr>
            </a:pPr>
            <a:r>
              <a:t>가상 사례: 월 20편 제작, 시간 가치 $30/h. 매출이나 수익을 보장하는 예측이 아니다.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28232"/>
            <a:ext cx="11018520" cy="10972"/>
          </a:xfrm>
          <a:prstGeom prst="rect">
            <a:avLst/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698480" cy="2011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840" b="0">
                <a:solidFill>
                  <a:srgbClr val="66768D"/>
                </a:solidFill>
                <a:latin typeface="Noto Sans CJK KR"/>
              </a:defRPr>
            </a:pPr>
            <a:r>
              <a:t>AI TOP 10  •  의사결정용 리서치 브리프  •  2026.10.09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68D"/>
                </a:solidFill>
                <a:latin typeface="Noto Sans CJK KR"/>
              </a:defRPr>
            </a:pPr>
            <a:r>
              <a:t>15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49808" y="2212848"/>
          <a:ext cx="5394960" cy="35844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19672" y="2359152"/>
          <a:ext cx="4946904" cy="2606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472184"/>
              </a:tblGrid>
              <a:tr h="52120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AI 활용 비용 항목</a:t>
                      </a:r>
                    </a:p>
                  </a:txBody>
                  <a:tcPr marL="109728" marT="64008" marB="32004">
                    <a:solidFill>
                      <a:srgbClr val="11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편당 USD</a:t>
                      </a:r>
                    </a:p>
                  </a:txBody>
                  <a:tcPr marL="109728" marT="64008" marB="32004">
                    <a:solidFill>
                      <a:srgbClr val="11233F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구독료 배분: 46 ÷ 20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2.30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추가 생성 비용 가정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0.30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노동: 0.5h × 30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15.00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총원가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17.60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11112" y="5276088"/>
            <a:ext cx="4663440" cy="61264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6A6A1"/>
                </a:solidFill>
                <a:latin typeface="Noto Sans CJK KR"/>
              </a:defRPr>
            </a:pPr>
            <a:r>
              <a:t>편당 $24.40 절감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5916168"/>
            <a:ext cx="10607040" cy="32918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6768D"/>
                </a:solidFill>
                <a:latin typeface="Noto Sans CJK KR"/>
              </a:defRPr>
            </a:pPr>
            <a:r>
              <a:t>기존: 1.4h × $30 = $42  |  AI 활용 후 0.5h에는 검수·수정을 포함한다고 가정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00584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65EF"/>
                </a:solidFill>
                <a:latin typeface="Noto Sans CJK KR"/>
              </a:defRPr>
            </a:pPr>
            <a:r>
              <a:t>2026 SOLO BUSINESS  /  15 / 30-DAY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62179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1233F"/>
                </a:solidFill>
                <a:latin typeface="Noto Sans CJK KR"/>
              </a:defRPr>
            </a:pPr>
            <a:r>
              <a:t>30일 실험 후, 남길 도구와 해지할 도구를 정한다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5029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68D"/>
                </a:solidFill>
                <a:latin typeface="Noto Sans CJK KR"/>
              </a:defRPr>
            </a:pPr>
            <a:r>
              <a:t>첫 달의 목표는 도구를 배우는 것이 아니라 반복 가능한 결과물 한 종류를 완성하는 것이다.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28232"/>
            <a:ext cx="11018520" cy="10972"/>
          </a:xfrm>
          <a:prstGeom prst="rect">
            <a:avLst/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698480" cy="2011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840" b="0">
                <a:solidFill>
                  <a:srgbClr val="66768D"/>
                </a:solidFill>
                <a:latin typeface="Noto Sans CJK KR"/>
              </a:defRPr>
            </a:pPr>
            <a:r>
              <a:t>AI TOP 10  •  의사결정용 리서치 브리프  •  2026.10.09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68D"/>
                </a:solidFill>
                <a:latin typeface="Noto Sans CJK KR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67712"/>
            <a:ext cx="2587752" cy="3566160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478024"/>
            <a:ext cx="219456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765EF"/>
                </a:solidFill>
                <a:latin typeface="Noto Sans CJK KR"/>
              </a:defRPr>
            </a:pPr>
            <a:r>
              <a:t>WEEK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054096"/>
            <a:ext cx="2194560" cy="44805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1233F"/>
                </a:solidFill>
                <a:latin typeface="Noto Sans CJK KR"/>
              </a:defRPr>
            </a:pPr>
            <a:r>
              <a:t>선정과 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858768"/>
            <a:ext cx="2194560" cy="10972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B49"/>
                </a:solidFill>
                <a:latin typeface="Noto Sans CJK KR"/>
              </a:defRPr>
            </a:pPr>
            <a:r>
              <a:t>대표 과제 3개 선정</a:t>
            </a:r>
          </a:p>
          <a:p>
            <a:pPr>
              <a:spcAft>
                <a:spcPts val="700"/>
              </a:spcAft>
              <a:defRPr sz="1400" b="0">
                <a:solidFill>
                  <a:srgbClr val="172B49"/>
                </a:solidFill>
                <a:latin typeface="Noto Sans CJK KR"/>
              </a:defRPr>
            </a:pPr>
            <a:r>
              <a:t>현재 제작 시간 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321808"/>
            <a:ext cx="2194560" cy="33832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765EF"/>
                </a:solidFill>
                <a:latin typeface="Noto Sans CJK KR"/>
              </a:defRPr>
            </a:pPr>
            <a:r>
              <a:t>산출물: 기준선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267712"/>
            <a:ext cx="2587752" cy="3566160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478024"/>
            <a:ext cx="219456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765EF"/>
                </a:solidFill>
                <a:latin typeface="Noto Sans CJK KR"/>
              </a:defRPr>
            </a:pPr>
            <a:r>
              <a:t>WEEK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54096"/>
            <a:ext cx="2194560" cy="44805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1233F"/>
                </a:solidFill>
                <a:latin typeface="Noto Sans CJK KR"/>
              </a:defRPr>
            </a:pPr>
            <a:r>
              <a:t>실제 제작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858768"/>
            <a:ext cx="2194560" cy="10972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B49"/>
                </a:solidFill>
                <a:latin typeface="Noto Sans CJK KR"/>
              </a:defRPr>
            </a:pPr>
            <a:r>
              <a:t>동일 브리프로 10편 제작</a:t>
            </a:r>
          </a:p>
          <a:p>
            <a:pPr>
              <a:spcAft>
                <a:spcPts val="700"/>
              </a:spcAft>
              <a:defRPr sz="1400" b="0">
                <a:solidFill>
                  <a:srgbClr val="172B49"/>
                </a:solidFill>
                <a:latin typeface="Noto Sans CJK KR"/>
              </a:defRPr>
            </a:pPr>
            <a:r>
              <a:t>생성·수정·검수 시간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321808"/>
            <a:ext cx="2194560" cy="33832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765EF"/>
                </a:solidFill>
                <a:latin typeface="Noto Sans CJK KR"/>
              </a:defRPr>
            </a:pPr>
            <a:r>
              <a:t>산출물: 작업 로그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267712"/>
            <a:ext cx="2587752" cy="3566160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478024"/>
            <a:ext cx="219456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765EF"/>
                </a:solidFill>
                <a:latin typeface="Noto Sans CJK KR"/>
              </a:defRPr>
            </a:pPr>
            <a:r>
              <a:t>WEEK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54096"/>
            <a:ext cx="2194560" cy="44805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1233F"/>
                </a:solidFill>
                <a:latin typeface="Noto Sans CJK KR"/>
              </a:defRPr>
            </a:pPr>
            <a:r>
              <a:t>비교 실험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858768"/>
            <a:ext cx="2194560" cy="10972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B49"/>
                </a:solidFill>
                <a:latin typeface="Noto Sans CJK KR"/>
              </a:defRPr>
            </a:pPr>
            <a:r>
              <a:t>도구·프롬프트를 교차 비교</a:t>
            </a:r>
          </a:p>
          <a:p>
            <a:pPr>
              <a:spcAft>
                <a:spcPts val="700"/>
              </a:spcAft>
              <a:defRPr sz="1400" b="0">
                <a:solidFill>
                  <a:srgbClr val="172B49"/>
                </a:solidFill>
                <a:latin typeface="Noto Sans CJK KR"/>
              </a:defRPr>
            </a:pPr>
            <a:r>
              <a:t>채택률과 품질 점검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321808"/>
            <a:ext cx="2194560" cy="33832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765EF"/>
                </a:solidFill>
                <a:latin typeface="Noto Sans CJK KR"/>
              </a:defRPr>
            </a:pPr>
            <a:r>
              <a:t>산출물: 비교표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267712"/>
            <a:ext cx="2587752" cy="3566160"/>
          </a:xfrm>
          <a:prstGeom prst="roundRect">
            <a:avLst>
              <a:gd name="adj" fmla="val 13000"/>
            </a:avLst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478024"/>
            <a:ext cx="219456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765EF"/>
                </a:solidFill>
                <a:latin typeface="Noto Sans CJK KR"/>
              </a:defRPr>
            </a:pPr>
            <a:r>
              <a:t>WEEK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054096"/>
            <a:ext cx="2194560" cy="44805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1233F"/>
                </a:solidFill>
                <a:latin typeface="Noto Sans CJK KR"/>
              </a:defRPr>
            </a:pPr>
            <a:r>
              <a:t>구독 정리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858768"/>
            <a:ext cx="2194560" cy="10972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B49"/>
                </a:solidFill>
                <a:latin typeface="Noto Sans CJK KR"/>
              </a:defRPr>
            </a:pPr>
            <a:r>
              <a:t>편당 원가와 순절감 계산</a:t>
            </a:r>
          </a:p>
          <a:p>
            <a:pPr>
              <a:spcAft>
                <a:spcPts val="700"/>
              </a:spcAft>
              <a:defRPr sz="1400" b="0">
                <a:solidFill>
                  <a:srgbClr val="172B49"/>
                </a:solidFill>
                <a:latin typeface="Noto Sans CJK KR"/>
              </a:defRPr>
            </a:pPr>
            <a:r>
              <a:t>중복·저활용 구독 종료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321808"/>
            <a:ext cx="2194560" cy="33832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765EF"/>
                </a:solidFill>
                <a:latin typeface="Noto Sans CJK KR"/>
              </a:defRPr>
            </a:pPr>
            <a:r>
              <a:t>산출물: 다음 달 조합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00584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92B5FF"/>
                </a:solidFill>
                <a:latin typeface="Noto Sans CJK KR"/>
              </a:defRPr>
            </a:pPr>
            <a:r>
              <a:t>2026 SOLO BUSINESS  /  16 /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62179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Noto Sans CJK KR"/>
              </a:defRPr>
            </a:pPr>
            <a:r>
              <a:t>더 많이 구독하기보다, 고객이 원하는 결과를 더 잘 만든다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5029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BE3"/>
                </a:solidFill>
                <a:latin typeface="Noto Sans CJK KR"/>
              </a:defRPr>
            </a:pPr>
            <a:r>
              <a:t>성과를 측정하지 않는 구독은 비용으로 남는다.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28232"/>
            <a:ext cx="11018520" cy="10972"/>
          </a:xfrm>
          <a:prstGeom prst="rect">
            <a:avLst/>
          </a:prstGeom>
          <a:solidFill>
            <a:srgbClr val="34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698480" cy="2011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840" b="0">
                <a:solidFill>
                  <a:srgbClr val="A8B9D2"/>
                </a:solidFill>
                <a:latin typeface="Noto Sans CJK KR"/>
              </a:defRPr>
            </a:pPr>
            <a:r>
              <a:t>AI TOP 10  •  의사결정용 리서치 브리프  •  2026.10.09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9D2"/>
                </a:solidFill>
                <a:latin typeface="Noto Sans CJK KR"/>
              </a:defRPr>
            </a:pPr>
            <a: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68880"/>
            <a:ext cx="630936" cy="42062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8CAFFF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468880"/>
            <a:ext cx="9784080" cy="53949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FFFFFF"/>
                </a:solidFill>
                <a:latin typeface="Noto Sans CJK KR"/>
              </a:defRPr>
            </a:pPr>
            <a:r>
              <a:t>범용 AI는 하나부터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401568"/>
            <a:ext cx="630936" cy="42062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8CAFFF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3401568"/>
            <a:ext cx="9784080" cy="53949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FFFFFF"/>
                </a:solidFill>
                <a:latin typeface="Noto Sans CJK KR"/>
              </a:defRPr>
            </a:pPr>
            <a:r>
              <a:t>수익화 역할이 분명한 도구 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334256"/>
            <a:ext cx="630936" cy="42062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8CAFFF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4334256"/>
            <a:ext cx="9784080" cy="53949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FFFFFF"/>
                </a:solidFill>
                <a:latin typeface="Noto Sans CJK KR"/>
              </a:defRPr>
            </a:pPr>
            <a:r>
              <a:t>30일마다 원가·품질·사용량 재평가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614416"/>
            <a:ext cx="10625328" cy="438912"/>
          </a:xfrm>
          <a:prstGeom prst="roundRect">
            <a:avLst>
              <a:gd name="adj" fmla="val 13000"/>
            </a:avLst>
          </a:prstGeom>
          <a:solidFill>
            <a:srgbClr val="244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5705856"/>
            <a:ext cx="10195560" cy="24688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다음 행동: 이번 주에 반복하는 업무 하나를 정하고, 동일한 과제로 두 도구를 비교한다.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0058400" cy="2743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65EF"/>
                </a:solidFill>
                <a:latin typeface="Noto Sans CJK KR"/>
              </a:defRPr>
            </a:pPr>
            <a:r>
              <a:t>2026 SOLO BUSINESS  /  17 / SOURCES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62179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1233F"/>
                </a:solidFill>
                <a:latin typeface="Noto Sans CJK KR"/>
              </a:defRPr>
            </a:pPr>
            <a:r>
              <a:t>데이터와 이미지의 검증 범위를 명확히 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5029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68D"/>
                </a:solidFill>
                <a:latin typeface="Noto Sans CJK KR"/>
              </a:defRPr>
            </a:pPr>
            <a:r>
              <a:t>보고서 기준일: 2026.10.09  |  단위·시점·출처 유형을 분리해 읽는다.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28232"/>
            <a:ext cx="11018520" cy="10972"/>
          </a:xfrm>
          <a:prstGeom prst="rect">
            <a:avLst/>
          </a:prstGeom>
          <a:solidFill>
            <a:srgbClr val="EA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698480" cy="20116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840" b="0">
                <a:solidFill>
                  <a:srgbClr val="66768D"/>
                </a:solidFill>
                <a:latin typeface="Noto Sans CJK KR"/>
              </a:defRPr>
            </a:pPr>
            <a:r>
              <a:t>AI TOP 10  •  의사결정용 리서치 브리프  •  2026.10.09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68D"/>
                </a:solidFill>
                <a:latin typeface="Noto Sans CJK KR"/>
              </a:defRPr>
            </a:pPr>
            <a:r>
              <a:t>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057400"/>
          <a:ext cx="10853928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099816"/>
                <a:gridCol w="5650992"/>
              </a:tblGrid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범위</a:t>
                      </a:r>
                    </a:p>
                  </a:txBody>
                  <a:tcPr marL="109728" marT="64008" marB="32004">
                    <a:solidFill>
                      <a:srgbClr val="11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출처</a:t>
                      </a:r>
                    </a:p>
                  </a:txBody>
                  <a:tcPr marL="109728" marT="64008" marB="32004">
                    <a:solidFill>
                      <a:srgbClr val="11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해석 및 한계</a:t>
                      </a:r>
                    </a:p>
                  </a:txBody>
                  <a:tcPr marL="109728" marT="64008" marB="32004">
                    <a:solidFill>
                      <a:srgbClr val="11233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유료·전체 사용자 / 매출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사용자가 제공한 보고서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수치 전재. 개별 기사 URL 미제공·독립 검증 불가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인용된 발표·보도 매체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OpenAI · Higgsfield · ElevenLabs · Inc. 등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원문에서 회사 발표/외부 추정으로 분류한 상태 유지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구독 가격 / 예산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원문 예산 + 명시적 계산 가정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최신 판매가 아님. 결제창에서 재확인 필요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브랜드 아이콘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LobeHub Icons / Simple Icons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제3자 배포본. 공식 원본 검증 안 됨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제품 이미지 2점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Anthropic / Google Gemini 공식 GitHub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개발 도구 데모. 일반 채팅 앱 화면 아님</a:t>
                      </a:r>
                    </a:p>
                  </a:txBody>
                  <a:tcPr marL="109728" marT="64008" marB="32004">
                    <a:solidFill>
                      <a:srgbClr val="EAF0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공식 이미지 미확보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모든 회사의 공식 브랜드·제품 이미지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B49"/>
                          </a:solidFill>
                          <a:latin typeface="Noto Sans CJK KR"/>
                        </a:defRPr>
                      </a:pPr>
                      <a:r>
                        <a:t>요청한 전사 공식 이미지 조건은 일부 미충족</a:t>
                      </a:r>
                    </a:p>
                  </a:txBody>
                  <a:tcPr marL="109728" marT="64008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68096" y="5879592"/>
            <a:ext cx="10625328" cy="29260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68D"/>
                </a:solidFill>
                <a:latin typeface="Noto Sans CJK KR"/>
              </a:defRPr>
            </a:pPr>
            <a:r>
              <a:t>세부 출처와 계산 가정은 발표자 노트 및 동봉된 데이터·출처 파일에 수록. Canva 공식 템플릿이 아닌 독자 디자인.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